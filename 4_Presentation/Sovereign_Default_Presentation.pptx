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8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9310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0AC68-077B-683B-73FD-5E219F366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C5C6B0-D0E9-BAAD-A875-7A82828D69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55B5F0-09FA-8646-36A1-185FCE1065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76F8B-49D2-8E75-CC5E-36106FE00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2164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" cy="685800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886968" y="0"/>
            <a:ext cx="9144" cy="685800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1773936" y="0"/>
            <a:ext cx="9144" cy="685800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2660904" y="0"/>
            <a:ext cx="9144" cy="685800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3547872" y="0"/>
            <a:ext cx="9144" cy="685800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4434840" y="0"/>
            <a:ext cx="9144" cy="685800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5321808" y="0"/>
            <a:ext cx="9144" cy="685800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6208776" y="0"/>
            <a:ext cx="9144" cy="685800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7095744" y="0"/>
            <a:ext cx="9144" cy="685800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982712" y="0"/>
            <a:ext cx="9144" cy="685800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8869680" y="0"/>
            <a:ext cx="9144" cy="685800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9756648" y="0"/>
            <a:ext cx="9144" cy="685800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10643616" y="0"/>
            <a:ext cx="9144" cy="685800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11530584" y="0"/>
            <a:ext cx="9144" cy="685800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1005840" y="1463040"/>
            <a:ext cx="64008" cy="2743200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1234440" y="14173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Sovereign Default Prediction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234440" y="2514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C8D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Machine Learning &amp; Synthetic Controls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1234440" y="3127248"/>
            <a:ext cx="5943600" cy="22860"/>
          </a:xfrm>
          <a:prstGeom prst="rect">
            <a:avLst/>
          </a:prstGeom>
          <a:solidFill>
            <a:srgbClr val="D4A843">
              <a:alpha val="70000"/>
            </a:srgbClr>
          </a:solidFill>
          <a:ln w="12700">
            <a:solidFill>
              <a:srgbClr val="D4A843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234440" y="3310128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Juni 2026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8BA3CC"/>
                </a:solidFill>
                <a:latin typeface="Calibri" pitchFamily="34" charset="0"/>
                <a:cs typeface="Calibri" pitchFamily="34" charset="-120"/>
              </a:rPr>
              <a:t>Philipp Wetter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 err="1">
                <a:solidFill>
                  <a:srgbClr val="C8D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</a:t>
            </a:r>
            <a:r>
              <a:rPr lang="en-US" sz="1500" dirty="0">
                <a:solidFill>
                  <a:srgbClr val="C8D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/chilipp15/sovereign-default-prediction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875520" y="4114800"/>
            <a:ext cx="3474720" cy="3474720"/>
          </a:xfrm>
          <a:prstGeom prst="ellipse">
            <a:avLst/>
          </a:prstGeom>
          <a:solidFill>
            <a:srgbClr val="1E3560"/>
          </a:solidFill>
          <a:ln w="1905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10332720" y="4572000"/>
            <a:ext cx="2560320" cy="2560320"/>
          </a:xfrm>
          <a:prstGeom prst="ellipse">
            <a:avLst/>
          </a:prstGeom>
          <a:solidFill>
            <a:srgbClr val="1A2B4A"/>
          </a:solidFill>
          <a:ln w="12700">
            <a:solidFill>
              <a:srgbClr val="D4A843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10332720" y="4572000"/>
            <a:ext cx="2560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D4A8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</a:t>
            </a:r>
            <a:endParaRPr lang="en-US" sz="8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195F1-4E78-70AF-35C1-6C9B529DB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693E3C-A08A-202D-1F45-C6B8CD79E1A0}"/>
              </a:ext>
            </a:extLst>
          </p:cNvPr>
          <p:cNvSpPr/>
          <p:nvPr/>
        </p:nvSpPr>
        <p:spPr>
          <a:xfrm>
            <a:off x="0" y="0"/>
            <a:ext cx="12161520" cy="84124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C0F3E68-D9A3-8E45-1C2F-5F3A65FCCDC9}"/>
              </a:ext>
            </a:extLst>
          </p:cNvPr>
          <p:cNvSpPr/>
          <p:nvPr/>
        </p:nvSpPr>
        <p:spPr>
          <a:xfrm>
            <a:off x="411480" y="173736"/>
            <a:ext cx="54864" cy="493776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286E2DF-B2C7-3EE0-DEE4-98C24E7BDC89}"/>
              </a:ext>
            </a:extLst>
          </p:cNvPr>
          <p:cNvSpPr/>
          <p:nvPr/>
        </p:nvSpPr>
        <p:spPr>
          <a:xfrm>
            <a:off x="594360" y="0"/>
            <a:ext cx="8229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Analytical Framework</a:t>
            </a:r>
            <a:endParaRPr lang="en-US" sz="26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28A6BA5-8A5F-763F-7EBA-61FB1A7B2366}"/>
              </a:ext>
            </a:extLst>
          </p:cNvPr>
          <p:cNvSpPr/>
          <p:nvPr/>
        </p:nvSpPr>
        <p:spPr>
          <a:xfrm>
            <a:off x="256032" y="932688"/>
            <a:ext cx="36118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8"/>
            </a:solidFill>
            <a:prstDash val="solid"/>
          </a:ln>
          <a:effectLst>
            <a:outerShdw blurRad="63500" dist="25400" dir="8100000" algn="bl" rotWithShape="0">
              <a:srgbClr val="AAAAAA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888212F-1139-D0AE-F4C0-29F86B09D549}"/>
              </a:ext>
            </a:extLst>
          </p:cNvPr>
          <p:cNvSpPr/>
          <p:nvPr/>
        </p:nvSpPr>
        <p:spPr>
          <a:xfrm>
            <a:off x="256032" y="932688"/>
            <a:ext cx="3611880" cy="6400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F3BE6F9-2DB8-36C4-73DF-E46C5BB11978}"/>
              </a:ext>
            </a:extLst>
          </p:cNvPr>
          <p:cNvSpPr/>
          <p:nvPr/>
        </p:nvSpPr>
        <p:spPr>
          <a:xfrm>
            <a:off x="393192" y="102412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Data &amp; Variables</a:t>
            </a:r>
            <a:endParaRPr lang="en-US" sz="1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DB7B693-9280-8C21-240B-DA20F3E3BFE1}"/>
              </a:ext>
            </a:extLst>
          </p:cNvPr>
          <p:cNvSpPr/>
          <p:nvPr/>
        </p:nvSpPr>
        <p:spPr>
          <a:xfrm>
            <a:off x="393192" y="1389888"/>
            <a:ext cx="3337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Panel: 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countries · 1975–2020 · monthly
</a:t>
            </a:r>
            <a:r>
              <a:rPr lang="en-US" sz="105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countries: 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· Non-default donors: 145
</a:t>
            </a:r>
            <a:r>
              <a:rPr lang="en-US" sz="105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Debt/GDP · GS10 (1/3/6/12M changes,
          log-diff, interaction) · Exports
          CPI · ER · Lags 1–24M
</a:t>
            </a:r>
            <a:r>
              <a:rPr lang="en-US" sz="105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Residuals: 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debt_gdp_change, Exports,
               er_rate, CPI (rolling 36M)</a:t>
            </a:r>
            <a:endParaRPr lang="en-US" sz="105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AE6D316-495B-92DD-634B-237FF9EC63B1}"/>
              </a:ext>
            </a:extLst>
          </p:cNvPr>
          <p:cNvSpPr/>
          <p:nvPr/>
        </p:nvSpPr>
        <p:spPr>
          <a:xfrm>
            <a:off x="256032" y="4347508"/>
            <a:ext cx="3611880" cy="2333053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8"/>
            </a:solidFill>
            <a:prstDash val="solid"/>
          </a:ln>
          <a:effectLst>
            <a:outerShdw blurRad="63500" dist="25400" dir="8100000" algn="bl" rotWithShape="0">
              <a:srgbClr val="AAAAAA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FD7D658-7489-446B-AEB5-554BDA206714}"/>
              </a:ext>
            </a:extLst>
          </p:cNvPr>
          <p:cNvSpPr/>
          <p:nvPr/>
        </p:nvSpPr>
        <p:spPr>
          <a:xfrm>
            <a:off x="256032" y="4347508"/>
            <a:ext cx="3611880" cy="69495"/>
          </a:xfrm>
          <a:prstGeom prst="rect">
            <a:avLst/>
          </a:prstGeom>
          <a:solidFill>
            <a:srgbClr val="1E3560"/>
          </a:solidFill>
          <a:ln w="12700">
            <a:solidFill>
              <a:srgbClr val="1E3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68AD013-C1C7-BA71-2CEC-FBC7E8A17EE0}"/>
              </a:ext>
            </a:extLst>
          </p:cNvPr>
          <p:cNvSpPr/>
          <p:nvPr/>
        </p:nvSpPr>
        <p:spPr>
          <a:xfrm>
            <a:off x="393192" y="4438949"/>
            <a:ext cx="3337560" cy="347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Methodology</a:t>
            </a:r>
            <a:endParaRPr lang="en-US" sz="12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15198E3-BF46-B8D1-4516-AC6B62C37364}"/>
              </a:ext>
            </a:extLst>
          </p:cNvPr>
          <p:cNvSpPr/>
          <p:nvPr/>
        </p:nvSpPr>
        <p:spPr>
          <a:xfrm>
            <a:off x="393192" y="4850429"/>
            <a:ext cx="329184" cy="31769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208F704-423B-251A-B984-84E0094F2E94}"/>
              </a:ext>
            </a:extLst>
          </p:cNvPr>
          <p:cNvSpPr/>
          <p:nvPr/>
        </p:nvSpPr>
        <p:spPr>
          <a:xfrm>
            <a:off x="393192" y="4850429"/>
            <a:ext cx="329184" cy="317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DD6ECAE-A4A6-01FB-467A-46A4E59CD56E}"/>
              </a:ext>
            </a:extLst>
          </p:cNvPr>
          <p:cNvSpPr/>
          <p:nvPr/>
        </p:nvSpPr>
        <p:spPr>
          <a:xfrm>
            <a:off x="786384" y="4850429"/>
            <a:ext cx="731520" cy="317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Pool  ·  </a:t>
            </a:r>
            <a:endParaRPr lang="en-US" sz="10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DC1703F-E982-99B9-34F4-A923CC868D6A}"/>
              </a:ext>
            </a:extLst>
          </p:cNvPr>
          <p:cNvSpPr/>
          <p:nvPr/>
        </p:nvSpPr>
        <p:spPr>
          <a:xfrm>
            <a:off x="1490472" y="4850429"/>
            <a:ext cx="2240280" cy="317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cs typeface="Calibri" pitchFamily="34" charset="-120"/>
              </a:rPr>
              <a:t>In non-defaulted countries</a:t>
            </a:r>
            <a:endParaRPr lang="en-US" sz="9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CAA4AEF-E268-49AF-32F0-2FE900ABBD3B}"/>
              </a:ext>
            </a:extLst>
          </p:cNvPr>
          <p:cNvSpPr/>
          <p:nvPr/>
        </p:nvSpPr>
        <p:spPr>
          <a:xfrm>
            <a:off x="393192" y="5234477"/>
            <a:ext cx="329184" cy="31769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49DDC6A0-0E58-3D0D-EBDB-2A719987DFD3}"/>
              </a:ext>
            </a:extLst>
          </p:cNvPr>
          <p:cNvSpPr/>
          <p:nvPr/>
        </p:nvSpPr>
        <p:spPr>
          <a:xfrm>
            <a:off x="393192" y="5234477"/>
            <a:ext cx="329184" cy="317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73A98D45-3BD7-6720-B570-3610DAEBA755}"/>
              </a:ext>
            </a:extLst>
          </p:cNvPr>
          <p:cNvSpPr/>
          <p:nvPr/>
        </p:nvSpPr>
        <p:spPr>
          <a:xfrm>
            <a:off x="786384" y="5234477"/>
            <a:ext cx="731520" cy="317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SC  ·  </a:t>
            </a:r>
            <a:endParaRPr lang="en-US" sz="10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8EB779A-023B-ABE9-FF75-4B1291BC6C54}"/>
              </a:ext>
            </a:extLst>
          </p:cNvPr>
          <p:cNvSpPr/>
          <p:nvPr/>
        </p:nvSpPr>
        <p:spPr>
          <a:xfrm>
            <a:off x="1490472" y="5234477"/>
            <a:ext cx="2240280" cy="317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Abadie weights on 36M window</a:t>
            </a:r>
            <a:endParaRPr lang="en-US" sz="95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463398B5-F93B-FA12-66F7-82143399D377}"/>
              </a:ext>
            </a:extLst>
          </p:cNvPr>
          <p:cNvSpPr/>
          <p:nvPr/>
        </p:nvSpPr>
        <p:spPr>
          <a:xfrm>
            <a:off x="393192" y="5618525"/>
            <a:ext cx="329184" cy="31769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9ACBC80-F3E4-645B-AB7E-FD33D1825F13}"/>
              </a:ext>
            </a:extLst>
          </p:cNvPr>
          <p:cNvSpPr/>
          <p:nvPr/>
        </p:nvSpPr>
        <p:spPr>
          <a:xfrm>
            <a:off x="393192" y="5618525"/>
            <a:ext cx="329184" cy="317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9E1E400-9616-394A-885B-6872C98FEDF9}"/>
              </a:ext>
            </a:extLst>
          </p:cNvPr>
          <p:cNvSpPr/>
          <p:nvPr/>
        </p:nvSpPr>
        <p:spPr>
          <a:xfrm>
            <a:off x="786384" y="5618525"/>
            <a:ext cx="731520" cy="317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 ·  </a:t>
            </a:r>
            <a:endParaRPr lang="en-US" sz="1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1DA0B38-2639-E72A-7E09-1D276854282B}"/>
              </a:ext>
            </a:extLst>
          </p:cNvPr>
          <p:cNvSpPr/>
          <p:nvPr/>
        </p:nvSpPr>
        <p:spPr>
          <a:xfrm>
            <a:off x="1490472" y="5618525"/>
            <a:ext cx="2240280" cy="317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actual − SC prediction (monthly, ex-ante)</a:t>
            </a:r>
            <a:endParaRPr lang="en-US" sz="95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A85D67EA-8CE6-58CA-61B8-CAB8CE03089A}"/>
              </a:ext>
            </a:extLst>
          </p:cNvPr>
          <p:cNvSpPr/>
          <p:nvPr/>
        </p:nvSpPr>
        <p:spPr>
          <a:xfrm>
            <a:off x="393192" y="6002573"/>
            <a:ext cx="329184" cy="31769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BF166249-8528-7F37-7957-7F93CC3E5DB1}"/>
              </a:ext>
            </a:extLst>
          </p:cNvPr>
          <p:cNvSpPr/>
          <p:nvPr/>
        </p:nvSpPr>
        <p:spPr>
          <a:xfrm>
            <a:off x="393192" y="6002573"/>
            <a:ext cx="329184" cy="317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12004B0-4072-C64D-EA42-BE1BC2195618}"/>
              </a:ext>
            </a:extLst>
          </p:cNvPr>
          <p:cNvSpPr/>
          <p:nvPr/>
        </p:nvSpPr>
        <p:spPr>
          <a:xfrm>
            <a:off x="786384" y="6002573"/>
            <a:ext cx="731520" cy="317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 ·  </a:t>
            </a:r>
            <a:endParaRPr lang="en-US" sz="10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827636A7-4ADD-8E75-5400-1D2F74C5EC64}"/>
              </a:ext>
            </a:extLst>
          </p:cNvPr>
          <p:cNvSpPr/>
          <p:nvPr/>
        </p:nvSpPr>
        <p:spPr>
          <a:xfrm>
            <a:off x="1490472" y="6002573"/>
            <a:ext cx="2240280" cy="317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+ SC residuals · Goal: predict default in t+12</a:t>
            </a:r>
            <a:endParaRPr lang="en-US" sz="95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DCB0B721-B109-CB91-B966-2D2D238508F6}"/>
              </a:ext>
            </a:extLst>
          </p:cNvPr>
          <p:cNvSpPr/>
          <p:nvPr/>
        </p:nvSpPr>
        <p:spPr>
          <a:xfrm>
            <a:off x="516636" y="5143036"/>
            <a:ext cx="13716" cy="59567"/>
          </a:xfrm>
          <a:prstGeom prst="rect">
            <a:avLst/>
          </a:prstGeom>
          <a:solidFill>
            <a:srgbClr val="8BA3CC"/>
          </a:solidFill>
          <a:ln w="12700">
            <a:solidFill>
              <a:srgbClr val="8BA3C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B59323BB-B148-2233-8789-C6B6642C86D2}"/>
              </a:ext>
            </a:extLst>
          </p:cNvPr>
          <p:cNvSpPr/>
          <p:nvPr/>
        </p:nvSpPr>
        <p:spPr>
          <a:xfrm>
            <a:off x="516636" y="5527084"/>
            <a:ext cx="13716" cy="59567"/>
          </a:xfrm>
          <a:prstGeom prst="rect">
            <a:avLst/>
          </a:prstGeom>
          <a:solidFill>
            <a:srgbClr val="8BA3CC"/>
          </a:solidFill>
          <a:ln w="12700">
            <a:solidFill>
              <a:srgbClr val="8BA3C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16B31683-51E8-B7D6-B3A0-EC8682C5EE25}"/>
              </a:ext>
            </a:extLst>
          </p:cNvPr>
          <p:cNvSpPr/>
          <p:nvPr/>
        </p:nvSpPr>
        <p:spPr>
          <a:xfrm>
            <a:off x="516636" y="5911132"/>
            <a:ext cx="13716" cy="59567"/>
          </a:xfrm>
          <a:prstGeom prst="rect">
            <a:avLst/>
          </a:prstGeom>
          <a:solidFill>
            <a:srgbClr val="8BA3CC"/>
          </a:solidFill>
          <a:ln w="12700">
            <a:solidFill>
              <a:srgbClr val="8BA3C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8EC3F98A-0A97-563D-3DBC-696BCDC74614}"/>
              </a:ext>
            </a:extLst>
          </p:cNvPr>
          <p:cNvSpPr/>
          <p:nvPr/>
        </p:nvSpPr>
        <p:spPr>
          <a:xfrm>
            <a:off x="4005072" y="932688"/>
            <a:ext cx="7900416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8"/>
            </a:solidFill>
            <a:prstDash val="solid"/>
          </a:ln>
          <a:effectLst>
            <a:outerShdw blurRad="63500" dist="25400" dir="8100000" algn="bl" rotWithShape="0">
              <a:srgbClr val="AAAAAA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948E7F0B-5AE2-D9CB-D728-7C801F5B3A15}"/>
              </a:ext>
            </a:extLst>
          </p:cNvPr>
          <p:cNvSpPr/>
          <p:nvPr/>
        </p:nvSpPr>
        <p:spPr>
          <a:xfrm>
            <a:off x="4005072" y="932688"/>
            <a:ext cx="7900416" cy="64008"/>
          </a:xfrm>
          <a:prstGeom prst="rect">
            <a:avLst/>
          </a:prstGeom>
          <a:solidFill>
            <a:srgbClr val="1E3560"/>
          </a:solidFill>
          <a:ln w="12700">
            <a:solidFill>
              <a:srgbClr val="1E3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1738E661-0ACF-DA70-9D45-87CBA6B5DF05}"/>
              </a:ext>
            </a:extLst>
          </p:cNvPr>
          <p:cNvSpPr/>
          <p:nvPr/>
        </p:nvSpPr>
        <p:spPr>
          <a:xfrm>
            <a:off x="4142232" y="1014984"/>
            <a:ext cx="7626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Results · ROC</a:t>
            </a:r>
            <a:endParaRPr lang="en-US" sz="1100" dirty="0"/>
          </a:p>
        </p:txBody>
      </p:sp>
      <p:pic>
        <p:nvPicPr>
          <p:cNvPr id="34" name="Image 0" descr="/home/claude/results_plot.png">
            <a:extLst>
              <a:ext uri="{FF2B5EF4-FFF2-40B4-BE49-F238E27FC236}">
                <a16:creationId xmlns:a16="http://schemas.microsoft.com/office/drawing/2014/main" id="{EDB44F87-6186-759E-29FB-4764DB3999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26" t="4531" r="46500" b="49253"/>
          <a:stretch>
            <a:fillRect/>
          </a:stretch>
        </p:blipFill>
        <p:spPr>
          <a:xfrm>
            <a:off x="5509549" y="1143839"/>
            <a:ext cx="4387964" cy="2869538"/>
          </a:xfrm>
          <a:prstGeom prst="rect">
            <a:avLst/>
          </a:prstGeom>
        </p:spPr>
      </p:pic>
      <p:sp>
        <p:nvSpPr>
          <p:cNvPr id="36" name="Shape 33">
            <a:extLst>
              <a:ext uri="{FF2B5EF4-FFF2-40B4-BE49-F238E27FC236}">
                <a16:creationId xmlns:a16="http://schemas.microsoft.com/office/drawing/2014/main" id="{DDFEA75A-34FF-CC0E-DA35-7C1D85D0CA5A}"/>
              </a:ext>
            </a:extLst>
          </p:cNvPr>
          <p:cNvSpPr/>
          <p:nvPr/>
        </p:nvSpPr>
        <p:spPr>
          <a:xfrm>
            <a:off x="4005072" y="4334256"/>
            <a:ext cx="2578608" cy="6400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Shape 38">
            <a:extLst>
              <a:ext uri="{FF2B5EF4-FFF2-40B4-BE49-F238E27FC236}">
                <a16:creationId xmlns:a16="http://schemas.microsoft.com/office/drawing/2014/main" id="{0624CC2A-ADDA-E198-82C5-89177CF9FEB1}"/>
              </a:ext>
            </a:extLst>
          </p:cNvPr>
          <p:cNvSpPr/>
          <p:nvPr/>
        </p:nvSpPr>
        <p:spPr>
          <a:xfrm>
            <a:off x="6665976" y="4334256"/>
            <a:ext cx="2578608" cy="64008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0DEC6E1F-8143-A381-8DFC-3521A99AD496}"/>
              </a:ext>
            </a:extLst>
          </p:cNvPr>
          <p:cNvSpPr/>
          <p:nvPr/>
        </p:nvSpPr>
        <p:spPr>
          <a:xfrm>
            <a:off x="9326880" y="4334256"/>
            <a:ext cx="2578608" cy="2346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8"/>
            </a:solidFill>
            <a:prstDash val="solid"/>
          </a:ln>
          <a:effectLst>
            <a:outerShdw blurRad="63500" dist="25400" dir="8100000" algn="bl" rotWithShape="0">
              <a:srgbClr val="AAAAAA">
                <a:alpha val="18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60DBB221-F31A-4E62-A6E5-17C0F86BCEF9}"/>
              </a:ext>
            </a:extLst>
          </p:cNvPr>
          <p:cNvSpPr/>
          <p:nvPr/>
        </p:nvSpPr>
        <p:spPr>
          <a:xfrm>
            <a:off x="9326880" y="4334256"/>
            <a:ext cx="2578608" cy="64008"/>
          </a:xfrm>
          <a:prstGeom prst="rect">
            <a:avLst/>
          </a:prstGeom>
          <a:solidFill>
            <a:srgbClr val="1E3560"/>
          </a:solidFill>
          <a:ln w="12700">
            <a:solidFill>
              <a:srgbClr val="1E3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C297FE51-BFA2-549E-435A-BAD89B5537E2}"/>
              </a:ext>
            </a:extLst>
          </p:cNvPr>
          <p:cNvSpPr/>
          <p:nvPr/>
        </p:nvSpPr>
        <p:spPr>
          <a:xfrm>
            <a:off x="9326880" y="4443984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12M</a:t>
            </a:r>
            <a:endParaRPr lang="en-US" sz="2200" dirty="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0BE6E9F3-31FE-3338-10A8-9D8261B97BC4}"/>
              </a:ext>
            </a:extLst>
          </p:cNvPr>
          <p:cNvSpPr/>
          <p:nvPr/>
        </p:nvSpPr>
        <p:spPr>
          <a:xfrm>
            <a:off x="9326880" y="493776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horizon</a:t>
            </a:r>
            <a:endParaRPr lang="en-US" sz="900" dirty="0"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68CAE519-A457-83A2-E01C-747DF5C2EA13}"/>
              </a:ext>
            </a:extLst>
          </p:cNvPr>
          <p:cNvSpPr/>
          <p:nvPr/>
        </p:nvSpPr>
        <p:spPr>
          <a:xfrm>
            <a:off x="4005072" y="4913799"/>
            <a:ext cx="2578608" cy="177023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8"/>
            </a:solidFill>
            <a:prstDash val="solid"/>
          </a:ln>
          <a:effectLst>
            <a:outerShdw blurRad="63500" dist="25400" dir="8100000" algn="bl" rotWithShape="0">
              <a:srgbClr val="AAAAAA">
                <a:alpha val="18000"/>
              </a:srgbClr>
            </a:outerShdw>
          </a:effectLst>
        </p:spPr>
        <p:txBody>
          <a:bodyPr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residuals improve estimation by +4.2 PP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Not yet super relevant</a:t>
            </a:r>
            <a:endParaRPr lang="en-US" sz="1600" dirty="0"/>
          </a:p>
          <a:p>
            <a:endParaRPr lang="de-DE" sz="1600" dirty="0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CC7C69B7-AFBB-6DA6-54EE-9EF497635B9E}"/>
              </a:ext>
            </a:extLst>
          </p:cNvPr>
          <p:cNvSpPr/>
          <p:nvPr/>
        </p:nvSpPr>
        <p:spPr>
          <a:xfrm>
            <a:off x="6665976" y="4910328"/>
            <a:ext cx="2578608" cy="177023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8"/>
            </a:solidFill>
            <a:prstDash val="solid"/>
          </a:ln>
          <a:effectLst>
            <a:outerShdw blurRad="63500" dist="25400" dir="8100000" algn="bl" rotWithShape="0">
              <a:srgbClr val="AAAAAA">
                <a:alpha val="18000"/>
              </a:srgbClr>
            </a:outerShdw>
          </a:effectLst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full pipeline: all 237 countries</a:t>
            </a:r>
            <a:endParaRPr lang="en-US" sz="1600" dirty="0"/>
          </a:p>
          <a:p>
            <a:endParaRPr lang="de-DE" sz="1600" dirty="0"/>
          </a:p>
        </p:txBody>
      </p:sp>
      <p:sp>
        <p:nvSpPr>
          <p:cNvPr id="58" name="Text 49">
            <a:extLst>
              <a:ext uri="{FF2B5EF4-FFF2-40B4-BE49-F238E27FC236}">
                <a16:creationId xmlns:a16="http://schemas.microsoft.com/office/drawing/2014/main" id="{B4C3A238-8FBB-9555-9AC3-4FE8004B4C6E}"/>
              </a:ext>
            </a:extLst>
          </p:cNvPr>
          <p:cNvSpPr/>
          <p:nvPr/>
        </p:nvSpPr>
        <p:spPr>
          <a:xfrm>
            <a:off x="4005072" y="448056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Key Findings</a:t>
            </a:r>
            <a:endParaRPr lang="en-US" sz="1600" dirty="0"/>
          </a:p>
        </p:txBody>
      </p:sp>
      <p:sp>
        <p:nvSpPr>
          <p:cNvPr id="59" name="Text 53">
            <a:extLst>
              <a:ext uri="{FF2B5EF4-FFF2-40B4-BE49-F238E27FC236}">
                <a16:creationId xmlns:a16="http://schemas.microsoft.com/office/drawing/2014/main" id="{D1C328F5-A9FA-241A-7829-813269600DF1}"/>
              </a:ext>
            </a:extLst>
          </p:cNvPr>
          <p:cNvSpPr/>
          <p:nvPr/>
        </p:nvSpPr>
        <p:spPr>
          <a:xfrm>
            <a:off x="6665976" y="448056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Outlook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779066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179</Words>
  <Application>Microsoft Macintosh PowerPoint</Application>
  <PresentationFormat>Breitbild</PresentationFormat>
  <Paragraphs>32</Paragraphs>
  <Slides>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Arial</vt:lpstr>
      <vt:lpstr>Calibri</vt:lpstr>
      <vt:lpstr>Cambria</vt:lpstr>
      <vt:lpstr>Office Theme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Sovereign Default Prediction v2</dc:title>
  <dc:subject>PptxGenJS Presentation</dc:subject>
  <dc:creator>Sovereign Default Analysis</dc:creator>
  <cp:lastModifiedBy>Anne Mittelstät</cp:lastModifiedBy>
  <cp:revision>6</cp:revision>
  <dcterms:created xsi:type="dcterms:W3CDTF">2026-06-01T16:05:13Z</dcterms:created>
  <dcterms:modified xsi:type="dcterms:W3CDTF">2026-06-01T16:41:21Z</dcterms:modified>
</cp:coreProperties>
</file>