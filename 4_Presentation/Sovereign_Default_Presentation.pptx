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
  </p:notesMasterIdLst>
  <p:sldIdLst>
    <p:sldId id="256" r:id="rId2"/>
    <p:sldId id="257" r:id="rId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52"/>
    <p:restoredTop sz="88189"/>
  </p:normalViewPr>
  <p:slideViewPr>
    <p:cSldViewPr snapToGrid="0" snapToObjects="1">
      <p:cViewPr varScale="1">
        <p:scale>
          <a:sx n="96" d="100"/>
          <a:sy n="96" d="100"/>
        </p:scale>
        <p:origin x="1064" y="168"/>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577475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b="1" dirty="0"/>
              <a:t>Was wird berechnet:</a:t>
            </a:r>
          </a:p>
          <a:p>
            <a:r>
              <a:rPr lang="de-DE" b="1" dirty="0" err="1"/>
              <a:t>Debt</a:t>
            </a:r>
            <a:r>
              <a:rPr lang="de-DE" b="1" dirty="0"/>
              <a:t>/GDP – Change</a:t>
            </a:r>
          </a:p>
          <a:p>
            <a:endParaRPr lang="de-DE" b="1" dirty="0"/>
          </a:p>
          <a:p>
            <a:r>
              <a:rPr lang="de-DE" b="1" dirty="0"/>
              <a:t>Pre-R² = 0.751</a:t>
            </a:r>
            <a:endParaRPr lang="de-DE" dirty="0"/>
          </a:p>
          <a:p>
            <a:r>
              <a:rPr lang="de-DE" dirty="0"/>
              <a:t>Der synthetische Zwilling erklärt 75% der Pre-Treatment-Varianz in Argentiniens </a:t>
            </a:r>
            <a:r>
              <a:rPr lang="de-DE" dirty="0" err="1"/>
              <a:t>Debt</a:t>
            </a:r>
            <a:r>
              <a:rPr lang="de-DE" dirty="0"/>
              <a:t>/GDP-Dynamik. Das ist akzeptabel – nicht perfekt, aber weit entfernt vom früheren </a:t>
            </a:r>
            <a:r>
              <a:rPr lang="de-DE" dirty="0" err="1"/>
              <a:t>Overfitting</a:t>
            </a:r>
            <a:r>
              <a:rPr lang="de-DE" dirty="0"/>
              <a:t>-Problem (R² = 0.999). Der Fit ist ehrlich.</a:t>
            </a:r>
          </a:p>
          <a:p>
            <a:endParaRPr lang="en-US" dirty="0"/>
          </a:p>
          <a:p>
            <a:r>
              <a:rPr lang="de-DE" b="1" dirty="0"/>
              <a:t>OOS-R² = 0.286</a:t>
            </a:r>
            <a:endParaRPr lang="de-DE" dirty="0"/>
          </a:p>
          <a:p>
            <a:r>
              <a:rPr lang="de-DE" dirty="0"/>
              <a:t>In den ersten 12 Monaten nach dem Default erklärt der Zwilling noch 28,6% der tatsächlichen Varianz. Das ist positiv – der Zwilling extrapoliert besser als ein einfacher Mittelwert. Der Sprung von 0.75 auf 0.29 zeigt aber, dass der Default einen strukturellen Bruch ausgelöst hat, den der Zwilling nur teilweise vorhergesehen hat.</a:t>
            </a:r>
          </a:p>
          <a:p>
            <a:endParaRPr lang="en-US" dirty="0"/>
          </a:p>
          <a:p>
            <a:r>
              <a:rPr lang="de-DE" b="1" dirty="0" err="1"/>
              <a:t>τ</a:t>
            </a:r>
            <a:r>
              <a:rPr lang="de-DE" b="1" dirty="0"/>
              <a:t>/Monat = +1.18 PP</a:t>
            </a:r>
            <a:endParaRPr lang="de-DE" dirty="0"/>
          </a:p>
          <a:p>
            <a:r>
              <a:rPr lang="de-DE" dirty="0"/>
              <a:t>Im Durchschnitt stieg Argentiniens jährliche </a:t>
            </a:r>
            <a:r>
              <a:rPr lang="de-DE" dirty="0" err="1"/>
              <a:t>Debt</a:t>
            </a:r>
            <a:r>
              <a:rPr lang="de-DE" dirty="0"/>
              <a:t>/GDP-Veränderungsrate um </a:t>
            </a:r>
            <a:r>
              <a:rPr lang="de-DE" b="1" dirty="0"/>
              <a:t>1.18 Prozentpunkte pro Monat</a:t>
            </a:r>
            <a:r>
              <a:rPr lang="de-DE" dirty="0"/>
              <a:t> stärker als der kontrafaktische Pfad ohne Default.</a:t>
            </a:r>
          </a:p>
          <a:p>
            <a:endParaRPr lang="de-DE" dirty="0"/>
          </a:p>
          <a:p>
            <a:r>
              <a:rPr lang="de-DE" b="1" dirty="0" err="1"/>
              <a:t>τ</a:t>
            </a:r>
            <a:r>
              <a:rPr lang="de-DE" b="1" dirty="0"/>
              <a:t> kumulativ = +29.5 PP über 25 Monate</a:t>
            </a:r>
            <a:endParaRPr lang="de-DE" dirty="0"/>
          </a:p>
          <a:p>
            <a:r>
              <a:rPr lang="de-DE" dirty="0"/>
              <a:t>Über den gesamten Post-Treatment-Zeitraum (gut 2 Jahre nach dem Default) akkumulierte sich ein Effekt von </a:t>
            </a:r>
            <a:r>
              <a:rPr lang="de-DE" b="1" dirty="0"/>
              <a:t>+29.5 PP</a:t>
            </a:r>
            <a:r>
              <a:rPr lang="de-DE" dirty="0"/>
              <a:t>. Das bedeutet: Argentiniens Schuldenquote stieg in diesen 2 Jahren um kumuliert ~30 PP mehr als sie ohne den Default gestiegen wäre.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B4A"/>
        </a:solidFill>
        <a:effectLst/>
      </p:bgPr>
    </p:bg>
    <p:spTree>
      <p:nvGrpSpPr>
        <p:cNvPr id="1" name=""/>
        <p:cNvGrpSpPr/>
        <p:nvPr/>
      </p:nvGrpSpPr>
      <p:grpSpPr>
        <a:xfrm>
          <a:off x="0" y="0"/>
          <a:ext cx="0" cy="0"/>
          <a:chOff x="0" y="0"/>
          <a:chExt cx="0" cy="0"/>
        </a:xfrm>
      </p:grpSpPr>
      <p:sp>
        <p:nvSpPr>
          <p:cNvPr id="2" name="Shape 0"/>
          <p:cNvSpPr/>
          <p:nvPr/>
        </p:nvSpPr>
        <p:spPr>
          <a:xfrm>
            <a:off x="0" y="0"/>
            <a:ext cx="9144" cy="6858000"/>
          </a:xfrm>
          <a:prstGeom prst="rect">
            <a:avLst/>
          </a:prstGeom>
          <a:solidFill>
            <a:srgbClr val="FFFFFF">
              <a:alpha val="6000"/>
            </a:srgbClr>
          </a:solidFill>
          <a:ln w="12700">
            <a:solidFill>
              <a:srgbClr val="FFFFFF">
                <a:alpha val="6000"/>
              </a:srgbClr>
            </a:solidFill>
            <a:prstDash val="solid"/>
          </a:ln>
        </p:spPr>
        <p:txBody>
          <a:bodyPr/>
          <a:lstStyle/>
          <a:p>
            <a:endParaRPr lang="de-DE"/>
          </a:p>
        </p:txBody>
      </p:sp>
      <p:sp>
        <p:nvSpPr>
          <p:cNvPr id="3" name="Shape 1"/>
          <p:cNvSpPr/>
          <p:nvPr/>
        </p:nvSpPr>
        <p:spPr>
          <a:xfrm>
            <a:off x="886968" y="0"/>
            <a:ext cx="9144" cy="6858000"/>
          </a:xfrm>
          <a:prstGeom prst="rect">
            <a:avLst/>
          </a:prstGeom>
          <a:solidFill>
            <a:srgbClr val="FFFFFF">
              <a:alpha val="6000"/>
            </a:srgbClr>
          </a:solidFill>
          <a:ln w="12700">
            <a:solidFill>
              <a:srgbClr val="FFFFFF">
                <a:alpha val="6000"/>
              </a:srgbClr>
            </a:solidFill>
            <a:prstDash val="solid"/>
          </a:ln>
        </p:spPr>
        <p:txBody>
          <a:bodyPr/>
          <a:lstStyle/>
          <a:p>
            <a:endParaRPr lang="de-DE"/>
          </a:p>
        </p:txBody>
      </p:sp>
      <p:sp>
        <p:nvSpPr>
          <p:cNvPr id="4" name="Shape 2"/>
          <p:cNvSpPr/>
          <p:nvPr/>
        </p:nvSpPr>
        <p:spPr>
          <a:xfrm>
            <a:off x="1773936" y="0"/>
            <a:ext cx="9144" cy="6858000"/>
          </a:xfrm>
          <a:prstGeom prst="rect">
            <a:avLst/>
          </a:prstGeom>
          <a:solidFill>
            <a:srgbClr val="FFFFFF">
              <a:alpha val="6000"/>
            </a:srgbClr>
          </a:solidFill>
          <a:ln w="12700">
            <a:solidFill>
              <a:srgbClr val="FFFFFF">
                <a:alpha val="6000"/>
              </a:srgbClr>
            </a:solidFill>
            <a:prstDash val="solid"/>
          </a:ln>
        </p:spPr>
        <p:txBody>
          <a:bodyPr/>
          <a:lstStyle/>
          <a:p>
            <a:endParaRPr lang="de-DE"/>
          </a:p>
        </p:txBody>
      </p:sp>
      <p:sp>
        <p:nvSpPr>
          <p:cNvPr id="5" name="Shape 3"/>
          <p:cNvSpPr/>
          <p:nvPr/>
        </p:nvSpPr>
        <p:spPr>
          <a:xfrm>
            <a:off x="2660904" y="0"/>
            <a:ext cx="9144" cy="6858000"/>
          </a:xfrm>
          <a:prstGeom prst="rect">
            <a:avLst/>
          </a:prstGeom>
          <a:solidFill>
            <a:srgbClr val="FFFFFF">
              <a:alpha val="6000"/>
            </a:srgbClr>
          </a:solidFill>
          <a:ln w="12700">
            <a:solidFill>
              <a:srgbClr val="FFFFFF">
                <a:alpha val="6000"/>
              </a:srgbClr>
            </a:solidFill>
            <a:prstDash val="solid"/>
          </a:ln>
        </p:spPr>
        <p:txBody>
          <a:bodyPr/>
          <a:lstStyle/>
          <a:p>
            <a:endParaRPr lang="de-DE"/>
          </a:p>
        </p:txBody>
      </p:sp>
      <p:sp>
        <p:nvSpPr>
          <p:cNvPr id="6" name="Shape 4"/>
          <p:cNvSpPr/>
          <p:nvPr/>
        </p:nvSpPr>
        <p:spPr>
          <a:xfrm>
            <a:off x="3547872" y="0"/>
            <a:ext cx="9144" cy="6858000"/>
          </a:xfrm>
          <a:prstGeom prst="rect">
            <a:avLst/>
          </a:prstGeom>
          <a:solidFill>
            <a:srgbClr val="FFFFFF">
              <a:alpha val="6000"/>
            </a:srgbClr>
          </a:solidFill>
          <a:ln w="12700">
            <a:solidFill>
              <a:srgbClr val="FFFFFF">
                <a:alpha val="6000"/>
              </a:srgbClr>
            </a:solidFill>
            <a:prstDash val="solid"/>
          </a:ln>
        </p:spPr>
        <p:txBody>
          <a:bodyPr/>
          <a:lstStyle/>
          <a:p>
            <a:endParaRPr lang="de-DE"/>
          </a:p>
        </p:txBody>
      </p:sp>
      <p:sp>
        <p:nvSpPr>
          <p:cNvPr id="7" name="Shape 5"/>
          <p:cNvSpPr/>
          <p:nvPr/>
        </p:nvSpPr>
        <p:spPr>
          <a:xfrm>
            <a:off x="4434840" y="0"/>
            <a:ext cx="9144" cy="6858000"/>
          </a:xfrm>
          <a:prstGeom prst="rect">
            <a:avLst/>
          </a:prstGeom>
          <a:solidFill>
            <a:srgbClr val="FFFFFF">
              <a:alpha val="6000"/>
            </a:srgbClr>
          </a:solidFill>
          <a:ln w="12700">
            <a:solidFill>
              <a:srgbClr val="FFFFFF">
                <a:alpha val="6000"/>
              </a:srgbClr>
            </a:solidFill>
            <a:prstDash val="solid"/>
          </a:ln>
        </p:spPr>
        <p:txBody>
          <a:bodyPr/>
          <a:lstStyle/>
          <a:p>
            <a:endParaRPr lang="de-DE"/>
          </a:p>
        </p:txBody>
      </p:sp>
      <p:sp>
        <p:nvSpPr>
          <p:cNvPr id="8" name="Shape 6"/>
          <p:cNvSpPr/>
          <p:nvPr/>
        </p:nvSpPr>
        <p:spPr>
          <a:xfrm>
            <a:off x="5321808" y="0"/>
            <a:ext cx="9144" cy="6858000"/>
          </a:xfrm>
          <a:prstGeom prst="rect">
            <a:avLst/>
          </a:prstGeom>
          <a:solidFill>
            <a:srgbClr val="FFFFFF">
              <a:alpha val="6000"/>
            </a:srgbClr>
          </a:solidFill>
          <a:ln w="12700">
            <a:solidFill>
              <a:srgbClr val="FFFFFF">
                <a:alpha val="6000"/>
              </a:srgbClr>
            </a:solidFill>
            <a:prstDash val="solid"/>
          </a:ln>
        </p:spPr>
        <p:txBody>
          <a:bodyPr/>
          <a:lstStyle/>
          <a:p>
            <a:endParaRPr lang="de-DE"/>
          </a:p>
        </p:txBody>
      </p:sp>
      <p:sp>
        <p:nvSpPr>
          <p:cNvPr id="9" name="Shape 7"/>
          <p:cNvSpPr/>
          <p:nvPr/>
        </p:nvSpPr>
        <p:spPr>
          <a:xfrm>
            <a:off x="6208776" y="0"/>
            <a:ext cx="9144" cy="6858000"/>
          </a:xfrm>
          <a:prstGeom prst="rect">
            <a:avLst/>
          </a:prstGeom>
          <a:solidFill>
            <a:srgbClr val="FFFFFF">
              <a:alpha val="6000"/>
            </a:srgbClr>
          </a:solidFill>
          <a:ln w="12700">
            <a:solidFill>
              <a:srgbClr val="FFFFFF">
                <a:alpha val="6000"/>
              </a:srgbClr>
            </a:solidFill>
            <a:prstDash val="solid"/>
          </a:ln>
        </p:spPr>
        <p:txBody>
          <a:bodyPr/>
          <a:lstStyle/>
          <a:p>
            <a:endParaRPr lang="de-DE"/>
          </a:p>
        </p:txBody>
      </p:sp>
      <p:sp>
        <p:nvSpPr>
          <p:cNvPr id="10" name="Shape 8"/>
          <p:cNvSpPr/>
          <p:nvPr/>
        </p:nvSpPr>
        <p:spPr>
          <a:xfrm>
            <a:off x="7095744" y="0"/>
            <a:ext cx="9144" cy="6858000"/>
          </a:xfrm>
          <a:prstGeom prst="rect">
            <a:avLst/>
          </a:prstGeom>
          <a:solidFill>
            <a:srgbClr val="FFFFFF">
              <a:alpha val="6000"/>
            </a:srgbClr>
          </a:solidFill>
          <a:ln w="12700">
            <a:solidFill>
              <a:srgbClr val="FFFFFF">
                <a:alpha val="6000"/>
              </a:srgbClr>
            </a:solidFill>
            <a:prstDash val="solid"/>
          </a:ln>
        </p:spPr>
        <p:txBody>
          <a:bodyPr/>
          <a:lstStyle/>
          <a:p>
            <a:endParaRPr lang="de-DE"/>
          </a:p>
        </p:txBody>
      </p:sp>
      <p:sp>
        <p:nvSpPr>
          <p:cNvPr id="11" name="Shape 9"/>
          <p:cNvSpPr/>
          <p:nvPr/>
        </p:nvSpPr>
        <p:spPr>
          <a:xfrm>
            <a:off x="7982712" y="0"/>
            <a:ext cx="9144" cy="6858000"/>
          </a:xfrm>
          <a:prstGeom prst="rect">
            <a:avLst/>
          </a:prstGeom>
          <a:solidFill>
            <a:srgbClr val="FFFFFF">
              <a:alpha val="6000"/>
            </a:srgbClr>
          </a:solidFill>
          <a:ln w="12700">
            <a:solidFill>
              <a:srgbClr val="FFFFFF">
                <a:alpha val="6000"/>
              </a:srgbClr>
            </a:solidFill>
            <a:prstDash val="solid"/>
          </a:ln>
        </p:spPr>
        <p:txBody>
          <a:bodyPr/>
          <a:lstStyle/>
          <a:p>
            <a:endParaRPr lang="de-DE"/>
          </a:p>
        </p:txBody>
      </p:sp>
      <p:sp>
        <p:nvSpPr>
          <p:cNvPr id="12" name="Shape 10"/>
          <p:cNvSpPr/>
          <p:nvPr/>
        </p:nvSpPr>
        <p:spPr>
          <a:xfrm>
            <a:off x="8869680" y="0"/>
            <a:ext cx="9144" cy="6858000"/>
          </a:xfrm>
          <a:prstGeom prst="rect">
            <a:avLst/>
          </a:prstGeom>
          <a:solidFill>
            <a:srgbClr val="FFFFFF">
              <a:alpha val="6000"/>
            </a:srgbClr>
          </a:solidFill>
          <a:ln w="12700">
            <a:solidFill>
              <a:srgbClr val="FFFFFF">
                <a:alpha val="6000"/>
              </a:srgbClr>
            </a:solidFill>
            <a:prstDash val="solid"/>
          </a:ln>
        </p:spPr>
        <p:txBody>
          <a:bodyPr/>
          <a:lstStyle/>
          <a:p>
            <a:endParaRPr lang="de-DE"/>
          </a:p>
        </p:txBody>
      </p:sp>
      <p:sp>
        <p:nvSpPr>
          <p:cNvPr id="13" name="Shape 11"/>
          <p:cNvSpPr/>
          <p:nvPr/>
        </p:nvSpPr>
        <p:spPr>
          <a:xfrm>
            <a:off x="9756648" y="0"/>
            <a:ext cx="9144" cy="6858000"/>
          </a:xfrm>
          <a:prstGeom prst="rect">
            <a:avLst/>
          </a:prstGeom>
          <a:solidFill>
            <a:srgbClr val="FFFFFF">
              <a:alpha val="6000"/>
            </a:srgbClr>
          </a:solidFill>
          <a:ln w="12700">
            <a:solidFill>
              <a:srgbClr val="FFFFFF">
                <a:alpha val="6000"/>
              </a:srgbClr>
            </a:solidFill>
            <a:prstDash val="solid"/>
          </a:ln>
        </p:spPr>
        <p:txBody>
          <a:bodyPr/>
          <a:lstStyle/>
          <a:p>
            <a:endParaRPr lang="de-DE"/>
          </a:p>
        </p:txBody>
      </p:sp>
      <p:sp>
        <p:nvSpPr>
          <p:cNvPr id="14" name="Shape 12"/>
          <p:cNvSpPr/>
          <p:nvPr/>
        </p:nvSpPr>
        <p:spPr>
          <a:xfrm>
            <a:off x="10643616" y="0"/>
            <a:ext cx="9144" cy="6858000"/>
          </a:xfrm>
          <a:prstGeom prst="rect">
            <a:avLst/>
          </a:prstGeom>
          <a:solidFill>
            <a:srgbClr val="FFFFFF">
              <a:alpha val="6000"/>
            </a:srgbClr>
          </a:solidFill>
          <a:ln w="12700">
            <a:solidFill>
              <a:srgbClr val="FFFFFF">
                <a:alpha val="6000"/>
              </a:srgbClr>
            </a:solidFill>
            <a:prstDash val="solid"/>
          </a:ln>
        </p:spPr>
        <p:txBody>
          <a:bodyPr/>
          <a:lstStyle/>
          <a:p>
            <a:endParaRPr lang="de-DE"/>
          </a:p>
        </p:txBody>
      </p:sp>
      <p:sp>
        <p:nvSpPr>
          <p:cNvPr id="15" name="Shape 13"/>
          <p:cNvSpPr/>
          <p:nvPr/>
        </p:nvSpPr>
        <p:spPr>
          <a:xfrm>
            <a:off x="11530584" y="0"/>
            <a:ext cx="9144" cy="6858000"/>
          </a:xfrm>
          <a:prstGeom prst="rect">
            <a:avLst/>
          </a:prstGeom>
          <a:solidFill>
            <a:srgbClr val="FFFFFF">
              <a:alpha val="6000"/>
            </a:srgbClr>
          </a:solidFill>
          <a:ln w="12700">
            <a:solidFill>
              <a:srgbClr val="FFFFFF">
                <a:alpha val="6000"/>
              </a:srgbClr>
            </a:solidFill>
            <a:prstDash val="solid"/>
          </a:ln>
        </p:spPr>
        <p:txBody>
          <a:bodyPr/>
          <a:lstStyle/>
          <a:p>
            <a:endParaRPr lang="de-DE"/>
          </a:p>
        </p:txBody>
      </p:sp>
      <p:sp>
        <p:nvSpPr>
          <p:cNvPr id="16" name="Shape 14"/>
          <p:cNvSpPr/>
          <p:nvPr/>
        </p:nvSpPr>
        <p:spPr>
          <a:xfrm>
            <a:off x="1005840" y="1463040"/>
            <a:ext cx="64008" cy="2743200"/>
          </a:xfrm>
          <a:prstGeom prst="rect">
            <a:avLst/>
          </a:prstGeom>
          <a:solidFill>
            <a:srgbClr val="D4A843"/>
          </a:solidFill>
          <a:ln w="12700">
            <a:solidFill>
              <a:srgbClr val="D4A843"/>
            </a:solidFill>
            <a:prstDash val="solid"/>
          </a:ln>
        </p:spPr>
        <p:txBody>
          <a:bodyPr/>
          <a:lstStyle/>
          <a:p>
            <a:endParaRPr lang="de-DE"/>
          </a:p>
        </p:txBody>
      </p:sp>
      <p:sp>
        <p:nvSpPr>
          <p:cNvPr id="17" name="Text 15"/>
          <p:cNvSpPr/>
          <p:nvPr/>
        </p:nvSpPr>
        <p:spPr>
          <a:xfrm>
            <a:off x="1234440" y="1417320"/>
            <a:ext cx="7315200" cy="1097280"/>
          </a:xfrm>
          <a:prstGeom prst="rect">
            <a:avLst/>
          </a:prstGeom>
          <a:noFill/>
          <a:ln/>
        </p:spPr>
        <p:txBody>
          <a:bodyPr wrap="square" lIns="0" tIns="0" rIns="0" bIns="0" rtlCol="0" anchor="ctr"/>
          <a:lstStyle/>
          <a:p>
            <a:pPr marL="0" indent="0" algn="l">
              <a:buNone/>
            </a:pPr>
            <a:r>
              <a:rPr lang="en-US" sz="4200" b="1" dirty="0">
                <a:solidFill>
                  <a:srgbClr val="FFFFFF"/>
                </a:solidFill>
                <a:latin typeface="Cambria" pitchFamily="34" charset="0"/>
                <a:ea typeface="Cambria" pitchFamily="34" charset="-122"/>
                <a:cs typeface="Cambria" pitchFamily="34" charset="-120"/>
              </a:rPr>
              <a:t>Sovereign Default Prediction</a:t>
            </a:r>
            <a:endParaRPr lang="en-US" sz="4200" dirty="0"/>
          </a:p>
        </p:txBody>
      </p:sp>
      <p:sp>
        <p:nvSpPr>
          <p:cNvPr id="18" name="Text 16"/>
          <p:cNvSpPr/>
          <p:nvPr/>
        </p:nvSpPr>
        <p:spPr>
          <a:xfrm>
            <a:off x="1234440" y="2514600"/>
            <a:ext cx="7315200" cy="502920"/>
          </a:xfrm>
          <a:prstGeom prst="rect">
            <a:avLst/>
          </a:prstGeom>
          <a:noFill/>
          <a:ln/>
        </p:spPr>
        <p:txBody>
          <a:bodyPr wrap="square" lIns="0" tIns="0" rIns="0" bIns="0" rtlCol="0" anchor="ctr"/>
          <a:lstStyle/>
          <a:p>
            <a:pPr marL="0" indent="0" algn="l">
              <a:buNone/>
            </a:pPr>
            <a:r>
              <a:rPr lang="en-US" sz="2000" dirty="0">
                <a:solidFill>
                  <a:srgbClr val="C8DEFF"/>
                </a:solidFill>
                <a:latin typeface="Calibri" pitchFamily="34" charset="0"/>
                <a:ea typeface="Calibri" pitchFamily="34" charset="-122"/>
                <a:cs typeface="Calibri" pitchFamily="34" charset="-120"/>
              </a:rPr>
              <a:t>Using Machine Learning &amp; Synthetic Controls</a:t>
            </a:r>
            <a:endParaRPr lang="en-US" sz="2000" dirty="0"/>
          </a:p>
        </p:txBody>
      </p:sp>
      <p:sp>
        <p:nvSpPr>
          <p:cNvPr id="19" name="Shape 17"/>
          <p:cNvSpPr/>
          <p:nvPr/>
        </p:nvSpPr>
        <p:spPr>
          <a:xfrm>
            <a:off x="1234440" y="3154680"/>
            <a:ext cx="5943600" cy="22860"/>
          </a:xfrm>
          <a:prstGeom prst="rect">
            <a:avLst/>
          </a:prstGeom>
          <a:solidFill>
            <a:srgbClr val="D4A843">
              <a:alpha val="70000"/>
            </a:srgbClr>
          </a:solidFill>
          <a:ln w="12700">
            <a:solidFill>
              <a:srgbClr val="D4A843">
                <a:alpha val="70000"/>
              </a:srgbClr>
            </a:solidFill>
            <a:prstDash val="solid"/>
          </a:ln>
        </p:spPr>
        <p:txBody>
          <a:bodyPr/>
          <a:lstStyle/>
          <a:p>
            <a:endParaRPr lang="de-DE"/>
          </a:p>
        </p:txBody>
      </p:sp>
      <p:sp>
        <p:nvSpPr>
          <p:cNvPr id="20" name="Text 18"/>
          <p:cNvSpPr/>
          <p:nvPr/>
        </p:nvSpPr>
        <p:spPr>
          <a:xfrm>
            <a:off x="1234440" y="3337560"/>
            <a:ext cx="7772400" cy="1097280"/>
          </a:xfrm>
          <a:prstGeom prst="rect">
            <a:avLst/>
          </a:prstGeom>
          <a:noFill/>
          <a:ln/>
        </p:spPr>
        <p:txBody>
          <a:bodyPr wrap="square" lIns="0" tIns="0" rIns="0" bIns="0" rtlCol="0" anchor="t"/>
          <a:lstStyle/>
          <a:p>
            <a:pPr marL="0" indent="0" algn="l">
              <a:buNone/>
            </a:pPr>
            <a:r>
              <a:rPr lang="en-US" sz="1500" b="1" dirty="0">
                <a:solidFill>
                  <a:srgbClr val="8BA3CC"/>
                </a:solidFill>
                <a:latin typeface="Calibri" pitchFamily="34" charset="0"/>
                <a:ea typeface="Calibri" pitchFamily="34" charset="-122"/>
                <a:cs typeface="Calibri" pitchFamily="34" charset="-120"/>
              </a:rPr>
              <a:t>1. Juni 2026</a:t>
            </a:r>
            <a:endParaRPr lang="en-US" sz="1500" dirty="0"/>
          </a:p>
          <a:p>
            <a:pPr marL="0" indent="0" algn="l">
              <a:buNone/>
            </a:pPr>
            <a:r>
              <a:rPr lang="en-US" sz="1500" dirty="0">
                <a:solidFill>
                  <a:srgbClr val="8BA3CC"/>
                </a:solidFill>
                <a:latin typeface="Calibri" pitchFamily="34" charset="0"/>
                <a:cs typeface="Calibri" pitchFamily="34" charset="-120"/>
              </a:rPr>
              <a:t>Philipp Wetter</a:t>
            </a:r>
            <a:endParaRPr lang="en-US" sz="1500" dirty="0"/>
          </a:p>
          <a:p>
            <a:pPr marL="0" indent="0" algn="l">
              <a:buNone/>
            </a:pPr>
            <a:r>
              <a:rPr lang="en-US" sz="1500" dirty="0" err="1">
                <a:solidFill>
                  <a:srgbClr val="C8DEFF"/>
                </a:solidFill>
                <a:latin typeface="Calibri" pitchFamily="34" charset="0"/>
                <a:ea typeface="Calibri" pitchFamily="34" charset="-122"/>
                <a:cs typeface="Calibri" pitchFamily="34" charset="-120"/>
              </a:rPr>
              <a:t>github.com</a:t>
            </a:r>
            <a:r>
              <a:rPr lang="en-US" sz="1500" dirty="0">
                <a:solidFill>
                  <a:srgbClr val="C8DEFF"/>
                </a:solidFill>
                <a:latin typeface="Calibri" pitchFamily="34" charset="0"/>
                <a:ea typeface="Calibri" pitchFamily="34" charset="-122"/>
                <a:cs typeface="Calibri" pitchFamily="34" charset="-120"/>
              </a:rPr>
              <a:t>/chilipp15/sovereign-default-prediction</a:t>
            </a:r>
            <a:endParaRPr lang="en-US" sz="1500" dirty="0"/>
          </a:p>
        </p:txBody>
      </p:sp>
      <p:sp>
        <p:nvSpPr>
          <p:cNvPr id="21" name="Shape 19"/>
          <p:cNvSpPr/>
          <p:nvPr/>
        </p:nvSpPr>
        <p:spPr>
          <a:xfrm>
            <a:off x="9875520" y="4114800"/>
            <a:ext cx="3474720" cy="3474720"/>
          </a:xfrm>
          <a:prstGeom prst="ellipse">
            <a:avLst/>
          </a:prstGeom>
          <a:solidFill>
            <a:srgbClr val="1E3560"/>
          </a:solidFill>
          <a:ln w="19050">
            <a:solidFill>
              <a:srgbClr val="D4A843"/>
            </a:solidFill>
            <a:prstDash val="solid"/>
          </a:ln>
        </p:spPr>
        <p:txBody>
          <a:bodyPr/>
          <a:lstStyle/>
          <a:p>
            <a:endParaRPr lang="de-DE"/>
          </a:p>
        </p:txBody>
      </p:sp>
      <p:sp>
        <p:nvSpPr>
          <p:cNvPr id="22" name="Shape 20"/>
          <p:cNvSpPr/>
          <p:nvPr/>
        </p:nvSpPr>
        <p:spPr>
          <a:xfrm>
            <a:off x="10332720" y="4572000"/>
            <a:ext cx="2560320" cy="2560320"/>
          </a:xfrm>
          <a:prstGeom prst="ellipse">
            <a:avLst/>
          </a:prstGeom>
          <a:solidFill>
            <a:srgbClr val="1A2B4A"/>
          </a:solidFill>
          <a:ln w="12700">
            <a:solidFill>
              <a:srgbClr val="D4A843">
                <a:alpha val="40000"/>
              </a:srgbClr>
            </a:solidFill>
            <a:prstDash val="solid"/>
          </a:ln>
        </p:spPr>
        <p:txBody>
          <a:bodyPr/>
          <a:lstStyle/>
          <a:p>
            <a:endParaRPr lang="de-DE"/>
          </a:p>
        </p:txBody>
      </p:sp>
      <p:sp>
        <p:nvSpPr>
          <p:cNvPr id="23" name="Text 21"/>
          <p:cNvSpPr/>
          <p:nvPr/>
        </p:nvSpPr>
        <p:spPr>
          <a:xfrm>
            <a:off x="10332720" y="4572000"/>
            <a:ext cx="2560320" cy="2560320"/>
          </a:xfrm>
          <a:prstGeom prst="rect">
            <a:avLst/>
          </a:prstGeom>
          <a:noFill/>
          <a:ln/>
        </p:spPr>
        <p:txBody>
          <a:bodyPr wrap="square" rtlCol="0" anchor="ctr"/>
          <a:lstStyle/>
          <a:p>
            <a:pPr marL="0" indent="0" algn="ctr">
              <a:buNone/>
            </a:pPr>
            <a:r>
              <a:rPr lang="en-US" sz="8000" b="1" dirty="0">
                <a:solidFill>
                  <a:srgbClr val="D4A843"/>
                </a:solidFill>
                <a:latin typeface="Cambria" pitchFamily="34" charset="0"/>
                <a:ea typeface="Cambria" pitchFamily="34" charset="-122"/>
                <a:cs typeface="Cambria" pitchFamily="34" charset="-120"/>
              </a:rPr>
              <a:t>τ</a:t>
            </a:r>
            <a:endParaRPr lang="en-US" sz="8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C"/>
        </a:solidFill>
        <a:effectLst/>
      </p:bgPr>
    </p:bg>
    <p:spTree>
      <p:nvGrpSpPr>
        <p:cNvPr id="1" name=""/>
        <p:cNvGrpSpPr/>
        <p:nvPr/>
      </p:nvGrpSpPr>
      <p:grpSpPr>
        <a:xfrm>
          <a:off x="0" y="0"/>
          <a:ext cx="0" cy="0"/>
          <a:chOff x="0" y="0"/>
          <a:chExt cx="0" cy="0"/>
        </a:xfrm>
      </p:grpSpPr>
      <p:sp>
        <p:nvSpPr>
          <p:cNvPr id="2" name="Shape 0"/>
          <p:cNvSpPr/>
          <p:nvPr/>
        </p:nvSpPr>
        <p:spPr>
          <a:xfrm>
            <a:off x="0" y="0"/>
            <a:ext cx="12161520" cy="914400"/>
          </a:xfrm>
          <a:prstGeom prst="rect">
            <a:avLst/>
          </a:prstGeom>
          <a:solidFill>
            <a:srgbClr val="1A2B4A"/>
          </a:solidFill>
          <a:ln w="12700">
            <a:solidFill>
              <a:srgbClr val="1A2B4A"/>
            </a:solidFill>
            <a:prstDash val="solid"/>
          </a:ln>
        </p:spPr>
        <p:txBody>
          <a:bodyPr/>
          <a:lstStyle/>
          <a:p>
            <a:endParaRPr lang="de-DE"/>
          </a:p>
        </p:txBody>
      </p:sp>
      <p:sp>
        <p:nvSpPr>
          <p:cNvPr id="3" name="Shape 1"/>
          <p:cNvSpPr/>
          <p:nvPr/>
        </p:nvSpPr>
        <p:spPr>
          <a:xfrm>
            <a:off x="411480" y="201168"/>
            <a:ext cx="54864" cy="512064"/>
          </a:xfrm>
          <a:prstGeom prst="rect">
            <a:avLst/>
          </a:prstGeom>
          <a:solidFill>
            <a:srgbClr val="D4A843"/>
          </a:solidFill>
          <a:ln w="12700">
            <a:solidFill>
              <a:srgbClr val="D4A843"/>
            </a:solidFill>
            <a:prstDash val="solid"/>
          </a:ln>
        </p:spPr>
        <p:txBody>
          <a:bodyPr/>
          <a:lstStyle/>
          <a:p>
            <a:endParaRPr lang="de-DE"/>
          </a:p>
        </p:txBody>
      </p:sp>
      <p:sp>
        <p:nvSpPr>
          <p:cNvPr id="4" name="Text 2"/>
          <p:cNvSpPr/>
          <p:nvPr/>
        </p:nvSpPr>
        <p:spPr>
          <a:xfrm>
            <a:off x="594360" y="0"/>
            <a:ext cx="8229600" cy="914400"/>
          </a:xfrm>
          <a:prstGeom prst="rect">
            <a:avLst/>
          </a:prstGeom>
          <a:noFill/>
          <a:ln/>
        </p:spPr>
        <p:txBody>
          <a:bodyPr wrap="square" lIns="0" tIns="0" rIns="0" bIns="0" rtlCol="0" anchor="ctr"/>
          <a:lstStyle/>
          <a:p>
            <a:pPr marL="0" indent="0" algn="l">
              <a:buNone/>
            </a:pPr>
            <a:r>
              <a:rPr lang="en-US" sz="2800" b="1" dirty="0">
                <a:solidFill>
                  <a:srgbClr val="FFFFFF"/>
                </a:solidFill>
                <a:latin typeface="Cambria" pitchFamily="34" charset="0"/>
                <a:ea typeface="Cambria" pitchFamily="34" charset="-122"/>
                <a:cs typeface="Cambria" pitchFamily="34" charset="-120"/>
              </a:rPr>
              <a:t>Analytical Framework</a:t>
            </a:r>
            <a:endParaRPr lang="en-US" sz="2800" dirty="0"/>
          </a:p>
        </p:txBody>
      </p:sp>
      <p:sp>
        <p:nvSpPr>
          <p:cNvPr id="5" name="Shape 3"/>
          <p:cNvSpPr/>
          <p:nvPr/>
        </p:nvSpPr>
        <p:spPr>
          <a:xfrm>
            <a:off x="256032" y="1051560"/>
            <a:ext cx="3520440" cy="2331720"/>
          </a:xfrm>
          <a:prstGeom prst="rect">
            <a:avLst/>
          </a:prstGeom>
          <a:solidFill>
            <a:srgbClr val="FFFFFF"/>
          </a:solidFill>
          <a:ln w="12700">
            <a:solidFill>
              <a:srgbClr val="DDEAF8"/>
            </a:solidFill>
            <a:prstDash val="solid"/>
          </a:ln>
          <a:effectLst>
            <a:outerShdw blurRad="63500" dist="25400" dir="8100000" algn="bl" rotWithShape="0">
              <a:srgbClr val="AAAAAA">
                <a:alpha val="18000"/>
              </a:srgbClr>
            </a:outerShdw>
          </a:effectLst>
        </p:spPr>
        <p:txBody>
          <a:bodyPr/>
          <a:lstStyle/>
          <a:p>
            <a:endParaRPr lang="de-DE"/>
          </a:p>
        </p:txBody>
      </p:sp>
      <p:sp>
        <p:nvSpPr>
          <p:cNvPr id="6" name="Shape 4"/>
          <p:cNvSpPr/>
          <p:nvPr/>
        </p:nvSpPr>
        <p:spPr>
          <a:xfrm>
            <a:off x="256032" y="1051560"/>
            <a:ext cx="3520440" cy="64008"/>
          </a:xfrm>
          <a:prstGeom prst="rect">
            <a:avLst/>
          </a:prstGeom>
          <a:solidFill>
            <a:srgbClr val="1A2B4A"/>
          </a:solidFill>
          <a:ln w="12700">
            <a:solidFill>
              <a:srgbClr val="1A2B4A"/>
            </a:solidFill>
            <a:prstDash val="solid"/>
          </a:ln>
        </p:spPr>
        <p:txBody>
          <a:bodyPr/>
          <a:lstStyle/>
          <a:p>
            <a:endParaRPr lang="de-DE"/>
          </a:p>
        </p:txBody>
      </p:sp>
      <p:sp>
        <p:nvSpPr>
          <p:cNvPr id="7" name="Text 5"/>
          <p:cNvSpPr/>
          <p:nvPr/>
        </p:nvSpPr>
        <p:spPr>
          <a:xfrm>
            <a:off x="393192" y="1143000"/>
            <a:ext cx="3246120" cy="347472"/>
          </a:xfrm>
          <a:prstGeom prst="rect">
            <a:avLst/>
          </a:prstGeom>
          <a:noFill/>
          <a:ln/>
        </p:spPr>
        <p:txBody>
          <a:bodyPr wrap="square" lIns="0" tIns="0" rIns="0" bIns="0" rtlCol="0" anchor="ctr"/>
          <a:lstStyle/>
          <a:p>
            <a:pPr marL="0" indent="0" algn="l">
              <a:buNone/>
            </a:pPr>
            <a:r>
              <a:rPr lang="en-US" sz="1300" b="1" dirty="0">
                <a:solidFill>
                  <a:srgbClr val="1A2B4A"/>
                </a:solidFill>
                <a:latin typeface="Calibri" pitchFamily="34" charset="0"/>
                <a:ea typeface="Calibri" pitchFamily="34" charset="-122"/>
                <a:cs typeface="Calibri" pitchFamily="34" charset="-120"/>
              </a:rPr>
              <a:t>① Data &amp; Variables</a:t>
            </a:r>
            <a:endParaRPr lang="en-US" sz="1300" dirty="0"/>
          </a:p>
        </p:txBody>
      </p:sp>
      <p:sp>
        <p:nvSpPr>
          <p:cNvPr id="8" name="Text 6"/>
          <p:cNvSpPr/>
          <p:nvPr/>
        </p:nvSpPr>
        <p:spPr>
          <a:xfrm>
            <a:off x="393192" y="1527048"/>
            <a:ext cx="3246120" cy="1691640"/>
          </a:xfrm>
          <a:prstGeom prst="rect">
            <a:avLst/>
          </a:prstGeom>
          <a:noFill/>
          <a:ln/>
        </p:spPr>
        <p:txBody>
          <a:bodyPr wrap="square" lIns="0" tIns="0" rIns="0" bIns="0" rtlCol="0" anchor="t"/>
          <a:lstStyle/>
          <a:p>
            <a:pPr marL="0" indent="0" algn="l">
              <a:buNone/>
            </a:pPr>
            <a:r>
              <a:rPr lang="en-US" sz="1100" b="1" dirty="0">
                <a:solidFill>
                  <a:srgbClr val="2C3E50"/>
                </a:solidFill>
                <a:latin typeface="Calibri" pitchFamily="34" charset="0"/>
                <a:ea typeface="Calibri" pitchFamily="34" charset="-122"/>
                <a:cs typeface="Calibri" pitchFamily="34" charset="-120"/>
              </a:rPr>
              <a:t>Panel: </a:t>
            </a:r>
            <a:r>
              <a:rPr lang="en-US" sz="1100" dirty="0">
                <a:solidFill>
                  <a:srgbClr val="2C3E50"/>
                </a:solidFill>
                <a:latin typeface="Calibri" pitchFamily="34" charset="0"/>
                <a:ea typeface="Calibri" pitchFamily="34" charset="-122"/>
                <a:cs typeface="Calibri" pitchFamily="34" charset="-120"/>
              </a:rPr>
              <a:t>237 countries, 1975–2020, monthly</a:t>
            </a:r>
            <a:endParaRPr lang="en-US" sz="1100" dirty="0"/>
          </a:p>
          <a:p>
            <a:pPr marL="0" indent="0" algn="l">
              <a:buNone/>
            </a:pPr>
            <a:r>
              <a:rPr lang="en-US" sz="1100" b="1" dirty="0">
                <a:solidFill>
                  <a:srgbClr val="2C3E50"/>
                </a:solidFill>
                <a:latin typeface="Calibri" pitchFamily="34" charset="0"/>
                <a:ea typeface="Calibri" pitchFamily="34" charset="-122"/>
                <a:cs typeface="Calibri" pitchFamily="34" charset="-120"/>
              </a:rPr>
              <a:t>Target: </a:t>
            </a:r>
            <a:r>
              <a:rPr lang="en-US" sz="1100" dirty="0">
                <a:solidFill>
                  <a:srgbClr val="2C3E50"/>
                </a:solidFill>
                <a:latin typeface="Calibri" pitchFamily="34" charset="0"/>
                <a:ea typeface="Calibri" pitchFamily="34" charset="-122"/>
                <a:cs typeface="Calibri" pitchFamily="34" charset="-120"/>
              </a:rPr>
              <a:t>DEFAULT (binary, 92 default countries)</a:t>
            </a:r>
            <a:endParaRPr lang="en-US" sz="1100" dirty="0"/>
          </a:p>
          <a:p>
            <a:pPr marL="0" indent="0" algn="l">
              <a:buNone/>
            </a:pPr>
            <a:r>
              <a:rPr lang="en-US" sz="1100" b="1" dirty="0">
                <a:solidFill>
                  <a:srgbClr val="2C3E50"/>
                </a:solidFill>
                <a:latin typeface="Calibri" pitchFamily="34" charset="0"/>
                <a:ea typeface="Calibri" pitchFamily="34" charset="-122"/>
                <a:cs typeface="Calibri" pitchFamily="34" charset="-120"/>
              </a:rPr>
              <a:t>Key vars: </a:t>
            </a:r>
            <a:r>
              <a:rPr lang="en-US" sz="1100" dirty="0">
                <a:solidFill>
                  <a:srgbClr val="2C3E50"/>
                </a:solidFill>
                <a:latin typeface="Calibri" pitchFamily="34" charset="0"/>
                <a:ea typeface="Calibri" pitchFamily="34" charset="-122"/>
                <a:cs typeface="Calibri" pitchFamily="34" charset="-120"/>
              </a:rPr>
              <a:t>Debt/GDP, GS10, Exports, CPI, ER</a:t>
            </a:r>
            <a:endParaRPr lang="en-US" sz="1100" dirty="0"/>
          </a:p>
          <a:p>
            <a:pPr marL="0" indent="0" algn="l">
              <a:buNone/>
            </a:pPr>
            <a:r>
              <a:rPr lang="en-US" sz="1100" b="1" dirty="0">
                <a:solidFill>
                  <a:srgbClr val="2C3E50"/>
                </a:solidFill>
                <a:latin typeface="Calibri" pitchFamily="34" charset="0"/>
                <a:ea typeface="Calibri" pitchFamily="34" charset="-122"/>
                <a:cs typeface="Calibri" pitchFamily="34" charset="-120"/>
              </a:rPr>
              <a:t>Features: </a:t>
            </a:r>
            <a:r>
              <a:rPr lang="en-US" sz="1100" dirty="0">
                <a:solidFill>
                  <a:srgbClr val="2C3E50"/>
                </a:solidFill>
                <a:latin typeface="Calibri" pitchFamily="34" charset="0"/>
                <a:ea typeface="Calibri" pitchFamily="34" charset="-122"/>
                <a:cs typeface="Calibri" pitchFamily="34" charset="-120"/>
              </a:rPr>
              <a:t>40 total — GS10 changes (1/3/6/12M),</a:t>
            </a:r>
            <a:endParaRPr lang="en-US" sz="1100" dirty="0"/>
          </a:p>
          <a:p>
            <a:pPr marL="0" indent="0" algn="l">
              <a:buNone/>
            </a:pPr>
            <a:r>
              <a:rPr lang="en-US" sz="1100" dirty="0">
                <a:solidFill>
                  <a:srgbClr val="2C3E50"/>
                </a:solidFill>
                <a:latin typeface="Calibri" pitchFamily="34" charset="0"/>
                <a:ea typeface="Calibri" pitchFamily="34" charset="-122"/>
                <a:cs typeface="Calibri" pitchFamily="34" charset="-120"/>
              </a:rPr>
              <a:t>          gs10 × Debt/GDP interaction,</a:t>
            </a:r>
            <a:endParaRPr lang="en-US" sz="1100" dirty="0"/>
          </a:p>
          <a:p>
            <a:pPr marL="0" indent="0" algn="l">
              <a:buNone/>
            </a:pPr>
            <a:r>
              <a:rPr lang="en-US" sz="1100" dirty="0">
                <a:solidFill>
                  <a:srgbClr val="2C3E50"/>
                </a:solidFill>
                <a:latin typeface="Calibri" pitchFamily="34" charset="0"/>
                <a:ea typeface="Calibri" pitchFamily="34" charset="-122"/>
                <a:cs typeface="Calibri" pitchFamily="34" charset="-120"/>
              </a:rPr>
              <a:t>          lag features (1–24M)</a:t>
            </a:r>
            <a:endParaRPr lang="en-US" sz="1100" dirty="0"/>
          </a:p>
        </p:txBody>
      </p:sp>
      <p:sp>
        <p:nvSpPr>
          <p:cNvPr id="9" name="Shape 7"/>
          <p:cNvSpPr/>
          <p:nvPr/>
        </p:nvSpPr>
        <p:spPr>
          <a:xfrm>
            <a:off x="256032" y="3520440"/>
            <a:ext cx="3520440" cy="2331720"/>
          </a:xfrm>
          <a:prstGeom prst="rect">
            <a:avLst/>
          </a:prstGeom>
          <a:solidFill>
            <a:srgbClr val="FFFFFF"/>
          </a:solidFill>
          <a:ln w="12700">
            <a:solidFill>
              <a:srgbClr val="DDEAF8"/>
            </a:solidFill>
            <a:prstDash val="solid"/>
          </a:ln>
          <a:effectLst>
            <a:outerShdw blurRad="63500" dist="25400" dir="8100000" algn="bl" rotWithShape="0">
              <a:srgbClr val="AAAAAA">
                <a:alpha val="18000"/>
              </a:srgbClr>
            </a:outerShdw>
          </a:effectLst>
        </p:spPr>
        <p:txBody>
          <a:bodyPr/>
          <a:lstStyle/>
          <a:p>
            <a:endParaRPr lang="de-DE"/>
          </a:p>
        </p:txBody>
      </p:sp>
      <p:sp>
        <p:nvSpPr>
          <p:cNvPr id="10" name="Shape 8"/>
          <p:cNvSpPr/>
          <p:nvPr/>
        </p:nvSpPr>
        <p:spPr>
          <a:xfrm>
            <a:off x="256032" y="3520440"/>
            <a:ext cx="3520440" cy="64008"/>
          </a:xfrm>
          <a:prstGeom prst="rect">
            <a:avLst/>
          </a:prstGeom>
          <a:solidFill>
            <a:srgbClr val="C0392B"/>
          </a:solidFill>
          <a:ln w="12700">
            <a:solidFill>
              <a:srgbClr val="C0392B"/>
            </a:solidFill>
            <a:prstDash val="solid"/>
          </a:ln>
        </p:spPr>
        <p:txBody>
          <a:bodyPr/>
          <a:lstStyle/>
          <a:p>
            <a:endParaRPr lang="de-DE"/>
          </a:p>
        </p:txBody>
      </p:sp>
      <p:sp>
        <p:nvSpPr>
          <p:cNvPr id="11" name="Text 9"/>
          <p:cNvSpPr/>
          <p:nvPr/>
        </p:nvSpPr>
        <p:spPr>
          <a:xfrm>
            <a:off x="393192" y="3611880"/>
            <a:ext cx="3246120" cy="347472"/>
          </a:xfrm>
          <a:prstGeom prst="rect">
            <a:avLst/>
          </a:prstGeom>
          <a:noFill/>
          <a:ln/>
        </p:spPr>
        <p:txBody>
          <a:bodyPr wrap="square" lIns="0" tIns="0" rIns="0" bIns="0" rtlCol="0" anchor="ctr"/>
          <a:lstStyle/>
          <a:p>
            <a:pPr marL="0" indent="0" algn="l">
              <a:buNone/>
            </a:pPr>
            <a:r>
              <a:rPr lang="en-US" sz="1300" b="1" dirty="0">
                <a:solidFill>
                  <a:srgbClr val="C0392B"/>
                </a:solidFill>
                <a:latin typeface="Calibri" pitchFamily="34" charset="0"/>
                <a:ea typeface="Calibri" pitchFamily="34" charset="-122"/>
                <a:cs typeface="Calibri" pitchFamily="34" charset="-120"/>
              </a:rPr>
              <a:t>② Argentina Results  (T₀ = Jul 1982)</a:t>
            </a:r>
            <a:endParaRPr lang="en-US" sz="1300" dirty="0"/>
          </a:p>
        </p:txBody>
      </p:sp>
      <p:sp>
        <p:nvSpPr>
          <p:cNvPr id="12" name="Shape 10"/>
          <p:cNvSpPr/>
          <p:nvPr/>
        </p:nvSpPr>
        <p:spPr>
          <a:xfrm>
            <a:off x="393192" y="4050792"/>
            <a:ext cx="1051560" cy="868680"/>
          </a:xfrm>
          <a:prstGeom prst="rect">
            <a:avLst/>
          </a:prstGeom>
          <a:solidFill>
            <a:srgbClr val="F0F5FF"/>
          </a:solidFill>
          <a:ln w="12700">
            <a:solidFill>
              <a:srgbClr val="CADCFC"/>
            </a:solidFill>
            <a:prstDash val="solid"/>
          </a:ln>
        </p:spPr>
        <p:txBody>
          <a:bodyPr/>
          <a:lstStyle/>
          <a:p>
            <a:endParaRPr lang="de-DE"/>
          </a:p>
        </p:txBody>
      </p:sp>
      <p:sp>
        <p:nvSpPr>
          <p:cNvPr id="13" name="Text 11"/>
          <p:cNvSpPr/>
          <p:nvPr/>
        </p:nvSpPr>
        <p:spPr>
          <a:xfrm>
            <a:off x="393192" y="4096512"/>
            <a:ext cx="1051560" cy="457200"/>
          </a:xfrm>
          <a:prstGeom prst="rect">
            <a:avLst/>
          </a:prstGeom>
          <a:noFill/>
          <a:ln/>
        </p:spPr>
        <p:txBody>
          <a:bodyPr wrap="square" lIns="0" tIns="0" rIns="0" bIns="0" rtlCol="0" anchor="ctr"/>
          <a:lstStyle/>
          <a:p>
            <a:pPr marL="0" indent="0" algn="ctr">
              <a:buNone/>
            </a:pPr>
            <a:r>
              <a:rPr lang="en-US" sz="1700" b="1" dirty="0">
                <a:solidFill>
                  <a:srgbClr val="1A2B4A"/>
                </a:solidFill>
                <a:latin typeface="Cambria" pitchFamily="34" charset="0"/>
                <a:ea typeface="Cambria" pitchFamily="34" charset="-122"/>
                <a:cs typeface="Cambria" pitchFamily="34" charset="-120"/>
              </a:rPr>
              <a:t>0.751</a:t>
            </a:r>
            <a:endParaRPr lang="en-US" sz="1700" dirty="0"/>
          </a:p>
        </p:txBody>
      </p:sp>
      <p:sp>
        <p:nvSpPr>
          <p:cNvPr id="14" name="Text 12"/>
          <p:cNvSpPr/>
          <p:nvPr/>
        </p:nvSpPr>
        <p:spPr>
          <a:xfrm>
            <a:off x="393192" y="4526280"/>
            <a:ext cx="1051560" cy="201168"/>
          </a:xfrm>
          <a:prstGeom prst="rect">
            <a:avLst/>
          </a:prstGeom>
          <a:noFill/>
          <a:ln/>
        </p:spPr>
        <p:txBody>
          <a:bodyPr wrap="square" lIns="0" tIns="0" rIns="0" bIns="0" rtlCol="0" anchor="ctr"/>
          <a:lstStyle/>
          <a:p>
            <a:pPr marL="0" indent="0" algn="ctr">
              <a:buNone/>
            </a:pPr>
            <a:r>
              <a:rPr lang="en-US" sz="900" b="1" dirty="0">
                <a:solidFill>
                  <a:srgbClr val="8BA3CC"/>
                </a:solidFill>
                <a:latin typeface="Calibri" pitchFamily="34" charset="0"/>
                <a:ea typeface="Calibri" pitchFamily="34" charset="-122"/>
                <a:cs typeface="Calibri" pitchFamily="34" charset="-120"/>
              </a:rPr>
              <a:t>Pre-R²</a:t>
            </a:r>
            <a:endParaRPr lang="en-US" sz="900" dirty="0"/>
          </a:p>
        </p:txBody>
      </p:sp>
      <p:sp>
        <p:nvSpPr>
          <p:cNvPr id="15" name="Text 13"/>
          <p:cNvSpPr/>
          <p:nvPr/>
        </p:nvSpPr>
        <p:spPr>
          <a:xfrm>
            <a:off x="393192" y="4718304"/>
            <a:ext cx="1051560" cy="164592"/>
          </a:xfrm>
          <a:prstGeom prst="rect">
            <a:avLst/>
          </a:prstGeom>
          <a:noFill/>
          <a:ln/>
        </p:spPr>
        <p:txBody>
          <a:bodyPr wrap="square" lIns="0" tIns="0" rIns="0" bIns="0" rtlCol="0" anchor="ctr"/>
          <a:lstStyle/>
          <a:p>
            <a:pPr marL="0" indent="0" algn="ctr">
              <a:buNone/>
            </a:pPr>
            <a:r>
              <a:rPr lang="en-US" sz="800" dirty="0">
                <a:solidFill>
                  <a:srgbClr val="8BA3CC"/>
                </a:solidFill>
                <a:latin typeface="Calibri" pitchFamily="34" charset="0"/>
                <a:ea typeface="Calibri" pitchFamily="34" charset="-122"/>
                <a:cs typeface="Calibri" pitchFamily="34" charset="-120"/>
              </a:rPr>
              <a:t>SC fit quality</a:t>
            </a:r>
            <a:endParaRPr lang="en-US" sz="800" dirty="0"/>
          </a:p>
        </p:txBody>
      </p:sp>
      <p:sp>
        <p:nvSpPr>
          <p:cNvPr id="16" name="Shape 14"/>
          <p:cNvSpPr/>
          <p:nvPr/>
        </p:nvSpPr>
        <p:spPr>
          <a:xfrm>
            <a:off x="1536192" y="4050792"/>
            <a:ext cx="1051560" cy="868680"/>
          </a:xfrm>
          <a:prstGeom prst="rect">
            <a:avLst/>
          </a:prstGeom>
          <a:solidFill>
            <a:srgbClr val="F0F5FF"/>
          </a:solidFill>
          <a:ln w="12700">
            <a:solidFill>
              <a:srgbClr val="CADCFC"/>
            </a:solidFill>
            <a:prstDash val="solid"/>
          </a:ln>
        </p:spPr>
        <p:txBody>
          <a:bodyPr/>
          <a:lstStyle/>
          <a:p>
            <a:endParaRPr lang="de-DE"/>
          </a:p>
        </p:txBody>
      </p:sp>
      <p:sp>
        <p:nvSpPr>
          <p:cNvPr id="17" name="Text 15"/>
          <p:cNvSpPr/>
          <p:nvPr/>
        </p:nvSpPr>
        <p:spPr>
          <a:xfrm>
            <a:off x="1536192" y="4096512"/>
            <a:ext cx="1051560" cy="457200"/>
          </a:xfrm>
          <a:prstGeom prst="rect">
            <a:avLst/>
          </a:prstGeom>
          <a:noFill/>
          <a:ln/>
        </p:spPr>
        <p:txBody>
          <a:bodyPr wrap="square" lIns="0" tIns="0" rIns="0" bIns="0" rtlCol="0" anchor="ctr"/>
          <a:lstStyle/>
          <a:p>
            <a:pPr marL="0" indent="0" algn="ctr">
              <a:buNone/>
            </a:pPr>
            <a:r>
              <a:rPr lang="en-US" sz="1700" b="1" dirty="0">
                <a:solidFill>
                  <a:srgbClr val="1A2B4A"/>
                </a:solidFill>
                <a:latin typeface="Cambria" pitchFamily="34" charset="0"/>
                <a:ea typeface="Cambria" pitchFamily="34" charset="-122"/>
                <a:cs typeface="Cambria" pitchFamily="34" charset="-120"/>
              </a:rPr>
              <a:t>0.286</a:t>
            </a:r>
            <a:endParaRPr lang="en-US" sz="1700" dirty="0"/>
          </a:p>
        </p:txBody>
      </p:sp>
      <p:sp>
        <p:nvSpPr>
          <p:cNvPr id="18" name="Text 16"/>
          <p:cNvSpPr/>
          <p:nvPr/>
        </p:nvSpPr>
        <p:spPr>
          <a:xfrm>
            <a:off x="1536192" y="4526280"/>
            <a:ext cx="1051560" cy="201168"/>
          </a:xfrm>
          <a:prstGeom prst="rect">
            <a:avLst/>
          </a:prstGeom>
          <a:noFill/>
          <a:ln/>
        </p:spPr>
        <p:txBody>
          <a:bodyPr wrap="square" lIns="0" tIns="0" rIns="0" bIns="0" rtlCol="0" anchor="ctr"/>
          <a:lstStyle/>
          <a:p>
            <a:pPr marL="0" indent="0" algn="ctr">
              <a:buNone/>
            </a:pPr>
            <a:r>
              <a:rPr lang="en-US" sz="900" b="1" dirty="0">
                <a:solidFill>
                  <a:srgbClr val="8BA3CC"/>
                </a:solidFill>
                <a:latin typeface="Calibri" pitchFamily="34" charset="0"/>
                <a:ea typeface="Calibri" pitchFamily="34" charset="-122"/>
                <a:cs typeface="Calibri" pitchFamily="34" charset="-120"/>
              </a:rPr>
              <a:t>OOS-R²</a:t>
            </a:r>
            <a:endParaRPr lang="en-US" sz="900" dirty="0"/>
          </a:p>
        </p:txBody>
      </p:sp>
      <p:sp>
        <p:nvSpPr>
          <p:cNvPr id="19" name="Text 17"/>
          <p:cNvSpPr/>
          <p:nvPr/>
        </p:nvSpPr>
        <p:spPr>
          <a:xfrm>
            <a:off x="1536192" y="4718304"/>
            <a:ext cx="1051560" cy="164592"/>
          </a:xfrm>
          <a:prstGeom prst="rect">
            <a:avLst/>
          </a:prstGeom>
          <a:noFill/>
          <a:ln/>
        </p:spPr>
        <p:txBody>
          <a:bodyPr wrap="square" lIns="0" tIns="0" rIns="0" bIns="0" rtlCol="0" anchor="ctr"/>
          <a:lstStyle/>
          <a:p>
            <a:pPr marL="0" indent="0" algn="ctr">
              <a:buNone/>
            </a:pPr>
            <a:r>
              <a:rPr lang="en-US" sz="800" dirty="0">
                <a:solidFill>
                  <a:srgbClr val="8BA3CC"/>
                </a:solidFill>
                <a:latin typeface="Calibri" pitchFamily="34" charset="0"/>
                <a:ea typeface="Calibri" pitchFamily="34" charset="-122"/>
                <a:cs typeface="Calibri" pitchFamily="34" charset="-120"/>
              </a:rPr>
              <a:t>Extrapolation</a:t>
            </a:r>
            <a:endParaRPr lang="en-US" sz="800" dirty="0"/>
          </a:p>
        </p:txBody>
      </p:sp>
      <p:sp>
        <p:nvSpPr>
          <p:cNvPr id="20" name="Shape 18"/>
          <p:cNvSpPr/>
          <p:nvPr/>
        </p:nvSpPr>
        <p:spPr>
          <a:xfrm>
            <a:off x="2679192" y="4050792"/>
            <a:ext cx="1051560" cy="868680"/>
          </a:xfrm>
          <a:prstGeom prst="rect">
            <a:avLst/>
          </a:prstGeom>
          <a:solidFill>
            <a:srgbClr val="F0F5FF"/>
          </a:solidFill>
          <a:ln w="12700">
            <a:solidFill>
              <a:srgbClr val="CADCFC"/>
            </a:solidFill>
            <a:prstDash val="solid"/>
          </a:ln>
        </p:spPr>
        <p:txBody>
          <a:bodyPr/>
          <a:lstStyle/>
          <a:p>
            <a:endParaRPr lang="de-DE"/>
          </a:p>
        </p:txBody>
      </p:sp>
      <p:sp>
        <p:nvSpPr>
          <p:cNvPr id="21" name="Text 19"/>
          <p:cNvSpPr/>
          <p:nvPr/>
        </p:nvSpPr>
        <p:spPr>
          <a:xfrm>
            <a:off x="2679192" y="4096512"/>
            <a:ext cx="1051560" cy="457200"/>
          </a:xfrm>
          <a:prstGeom prst="rect">
            <a:avLst/>
          </a:prstGeom>
          <a:noFill/>
          <a:ln/>
        </p:spPr>
        <p:txBody>
          <a:bodyPr wrap="square" lIns="0" tIns="0" rIns="0" bIns="0" rtlCol="0" anchor="ctr"/>
          <a:lstStyle/>
          <a:p>
            <a:pPr marL="0" indent="0" algn="ctr">
              <a:buNone/>
            </a:pPr>
            <a:r>
              <a:rPr lang="en-US" sz="1700" b="1" dirty="0">
                <a:solidFill>
                  <a:srgbClr val="1A2B4A"/>
                </a:solidFill>
                <a:latin typeface="Cambria" pitchFamily="34" charset="0"/>
                <a:ea typeface="Cambria" pitchFamily="34" charset="-122"/>
                <a:cs typeface="Cambria" pitchFamily="34" charset="-120"/>
              </a:rPr>
              <a:t>+29.5 PP</a:t>
            </a:r>
            <a:endParaRPr lang="en-US" sz="1700" dirty="0"/>
          </a:p>
        </p:txBody>
      </p:sp>
      <p:sp>
        <p:nvSpPr>
          <p:cNvPr id="22" name="Text 20"/>
          <p:cNvSpPr/>
          <p:nvPr/>
        </p:nvSpPr>
        <p:spPr>
          <a:xfrm>
            <a:off x="2679192" y="4526280"/>
            <a:ext cx="1051560" cy="201168"/>
          </a:xfrm>
          <a:prstGeom prst="rect">
            <a:avLst/>
          </a:prstGeom>
          <a:noFill/>
          <a:ln/>
        </p:spPr>
        <p:txBody>
          <a:bodyPr wrap="square" lIns="0" tIns="0" rIns="0" bIns="0" rtlCol="0" anchor="ctr"/>
          <a:lstStyle/>
          <a:p>
            <a:pPr marL="0" indent="0" algn="ctr">
              <a:buNone/>
            </a:pPr>
            <a:r>
              <a:rPr lang="en-US" sz="900" b="1" dirty="0">
                <a:solidFill>
                  <a:srgbClr val="8BA3CC"/>
                </a:solidFill>
                <a:latin typeface="Calibri" pitchFamily="34" charset="0"/>
                <a:ea typeface="Calibri" pitchFamily="34" charset="-122"/>
                <a:cs typeface="Calibri" pitchFamily="34" charset="-120"/>
              </a:rPr>
              <a:t>τ cumul.</a:t>
            </a:r>
            <a:endParaRPr lang="en-US" sz="900" dirty="0"/>
          </a:p>
        </p:txBody>
      </p:sp>
      <p:sp>
        <p:nvSpPr>
          <p:cNvPr id="23" name="Text 21"/>
          <p:cNvSpPr/>
          <p:nvPr/>
        </p:nvSpPr>
        <p:spPr>
          <a:xfrm>
            <a:off x="2679192" y="4718304"/>
            <a:ext cx="1051560" cy="164592"/>
          </a:xfrm>
          <a:prstGeom prst="rect">
            <a:avLst/>
          </a:prstGeom>
          <a:noFill/>
          <a:ln/>
        </p:spPr>
        <p:txBody>
          <a:bodyPr wrap="square" lIns="0" tIns="0" rIns="0" bIns="0" rtlCol="0" anchor="ctr"/>
          <a:lstStyle/>
          <a:p>
            <a:pPr marL="0" indent="0" algn="ctr">
              <a:buNone/>
            </a:pPr>
            <a:r>
              <a:rPr lang="en-US" sz="800" dirty="0">
                <a:solidFill>
                  <a:srgbClr val="8BA3CC"/>
                </a:solidFill>
                <a:latin typeface="Calibri" pitchFamily="34" charset="0"/>
                <a:ea typeface="Calibri" pitchFamily="34" charset="-122"/>
                <a:cs typeface="Calibri" pitchFamily="34" charset="-120"/>
              </a:rPr>
              <a:t>over 25 months</a:t>
            </a:r>
            <a:endParaRPr lang="en-US" sz="800" dirty="0"/>
          </a:p>
        </p:txBody>
      </p:sp>
      <p:sp>
        <p:nvSpPr>
          <p:cNvPr id="24" name="Text 22"/>
          <p:cNvSpPr/>
          <p:nvPr/>
        </p:nvSpPr>
        <p:spPr>
          <a:xfrm>
            <a:off x="393192" y="5056632"/>
            <a:ext cx="3246120" cy="685800"/>
          </a:xfrm>
          <a:prstGeom prst="rect">
            <a:avLst/>
          </a:prstGeom>
          <a:noFill/>
          <a:ln/>
        </p:spPr>
        <p:txBody>
          <a:bodyPr wrap="square" lIns="0" tIns="0" rIns="0" bIns="0" rtlCol="0" anchor="t"/>
          <a:lstStyle/>
          <a:p>
            <a:pPr marL="0" indent="0" algn="l">
              <a:buNone/>
            </a:pPr>
            <a:r>
              <a:rPr lang="en-US" sz="1050" b="1" dirty="0">
                <a:solidFill>
                  <a:srgbClr val="2C3E50"/>
                </a:solidFill>
                <a:latin typeface="Calibri" pitchFamily="34" charset="0"/>
                <a:ea typeface="Calibri" pitchFamily="34" charset="-122"/>
                <a:cs typeface="Calibri" pitchFamily="34" charset="-120"/>
              </a:rPr>
              <a:t>Donors: </a:t>
            </a:r>
            <a:r>
              <a:rPr lang="en-US" sz="1050" dirty="0">
                <a:solidFill>
                  <a:srgbClr val="2C3E50"/>
                </a:solidFill>
                <a:latin typeface="Calibri" pitchFamily="34" charset="0"/>
                <a:ea typeface="Calibri" pitchFamily="34" charset="-122"/>
                <a:cs typeface="Calibri" pitchFamily="34" charset="-120"/>
              </a:rPr>
              <a:t>Benin (42%), Mali (38%), Lesotho (19%)</a:t>
            </a:r>
            <a:endParaRPr lang="en-US" sz="1050" dirty="0"/>
          </a:p>
          <a:p>
            <a:pPr marL="0" indent="0" algn="l">
              <a:buNone/>
            </a:pPr>
            <a:r>
              <a:rPr lang="en-US" sz="1050" b="1" dirty="0">
                <a:solidFill>
                  <a:srgbClr val="2C3E50"/>
                </a:solidFill>
                <a:latin typeface="Calibri" pitchFamily="34" charset="0"/>
                <a:ea typeface="Calibri" pitchFamily="34" charset="-122"/>
                <a:cs typeface="Calibri" pitchFamily="34" charset="-120"/>
              </a:rPr>
              <a:t>Method: </a:t>
            </a:r>
            <a:r>
              <a:rPr lang="en-US" sz="1050" dirty="0">
                <a:solidFill>
                  <a:srgbClr val="2C3E50"/>
                </a:solidFill>
                <a:latin typeface="Calibri" pitchFamily="34" charset="0"/>
                <a:ea typeface="Calibri" pitchFamily="34" charset="-122"/>
                <a:cs typeface="Calibri" pitchFamily="34" charset="-120"/>
              </a:rPr>
              <a:t>Abadie SC · non-negative weights summing to 1</a:t>
            </a:r>
            <a:endParaRPr lang="en-US" sz="1050" dirty="0"/>
          </a:p>
        </p:txBody>
      </p:sp>
      <p:sp>
        <p:nvSpPr>
          <p:cNvPr id="25" name="Shape 23"/>
          <p:cNvSpPr/>
          <p:nvPr/>
        </p:nvSpPr>
        <p:spPr>
          <a:xfrm>
            <a:off x="3913632" y="1051560"/>
            <a:ext cx="7973568" cy="2880360"/>
          </a:xfrm>
          <a:prstGeom prst="rect">
            <a:avLst/>
          </a:prstGeom>
          <a:solidFill>
            <a:srgbClr val="FFFFFF"/>
          </a:solidFill>
          <a:ln w="12700">
            <a:solidFill>
              <a:srgbClr val="DDEAF8"/>
            </a:solidFill>
            <a:prstDash val="solid"/>
          </a:ln>
          <a:effectLst>
            <a:outerShdw blurRad="63500" dist="25400" dir="8100000" algn="bl" rotWithShape="0">
              <a:srgbClr val="AAAAAA">
                <a:alpha val="18000"/>
              </a:srgbClr>
            </a:outerShdw>
          </a:effectLst>
        </p:spPr>
        <p:txBody>
          <a:bodyPr/>
          <a:lstStyle/>
          <a:p>
            <a:endParaRPr lang="de-DE"/>
          </a:p>
        </p:txBody>
      </p:sp>
      <p:sp>
        <p:nvSpPr>
          <p:cNvPr id="26" name="Shape 24"/>
          <p:cNvSpPr/>
          <p:nvPr/>
        </p:nvSpPr>
        <p:spPr>
          <a:xfrm>
            <a:off x="3913632" y="1051560"/>
            <a:ext cx="7973568" cy="64008"/>
          </a:xfrm>
          <a:prstGeom prst="rect">
            <a:avLst/>
          </a:prstGeom>
          <a:solidFill>
            <a:srgbClr val="1E3560"/>
          </a:solidFill>
          <a:ln w="12700">
            <a:solidFill>
              <a:srgbClr val="1E3560"/>
            </a:solidFill>
            <a:prstDash val="solid"/>
          </a:ln>
        </p:spPr>
        <p:txBody>
          <a:bodyPr/>
          <a:lstStyle/>
          <a:p>
            <a:endParaRPr lang="de-DE"/>
          </a:p>
        </p:txBody>
      </p:sp>
      <p:sp>
        <p:nvSpPr>
          <p:cNvPr id="27" name="Text 25"/>
          <p:cNvSpPr/>
          <p:nvPr/>
        </p:nvSpPr>
        <p:spPr>
          <a:xfrm>
            <a:off x="4050792" y="1133856"/>
            <a:ext cx="7699248" cy="320040"/>
          </a:xfrm>
          <a:prstGeom prst="rect">
            <a:avLst/>
          </a:prstGeom>
          <a:noFill/>
          <a:ln/>
        </p:spPr>
        <p:txBody>
          <a:bodyPr wrap="square" lIns="0" tIns="0" rIns="0" bIns="0" rtlCol="0" anchor="ctr"/>
          <a:lstStyle/>
          <a:p>
            <a:pPr marL="0" indent="0" algn="l">
              <a:buNone/>
            </a:pPr>
            <a:r>
              <a:rPr lang="en-US" sz="1200" b="1" dirty="0">
                <a:solidFill>
                  <a:srgbClr val="1A2B4A"/>
                </a:solidFill>
                <a:latin typeface="Calibri" pitchFamily="34" charset="0"/>
                <a:ea typeface="Calibri" pitchFamily="34" charset="-122"/>
                <a:cs typeface="Calibri" pitchFamily="34" charset="-120"/>
              </a:rPr>
              <a:t>③ Actual vs. Synthetic Twin · Argentina · T₀ = Jul 1982</a:t>
            </a:r>
            <a:endParaRPr lang="en-US" sz="1200" dirty="0"/>
          </a:p>
        </p:txBody>
      </p:sp>
      <p:pic>
        <p:nvPicPr>
          <p:cNvPr id="28" name="Image 0" descr="/home/claude/argentina_plot.png"/>
          <p:cNvPicPr>
            <a:picLocks noChangeAspect="1"/>
          </p:cNvPicPr>
          <p:nvPr/>
        </p:nvPicPr>
        <p:blipFill>
          <a:blip r:embed="rId3"/>
          <a:stretch>
            <a:fillRect/>
          </a:stretch>
        </p:blipFill>
        <p:spPr>
          <a:xfrm>
            <a:off x="5247193" y="1490472"/>
            <a:ext cx="5306446" cy="2377440"/>
          </a:xfrm>
          <a:prstGeom prst="rect">
            <a:avLst/>
          </a:prstGeom>
        </p:spPr>
      </p:pic>
      <p:sp>
        <p:nvSpPr>
          <p:cNvPr id="29" name="Shape 26"/>
          <p:cNvSpPr/>
          <p:nvPr/>
        </p:nvSpPr>
        <p:spPr>
          <a:xfrm>
            <a:off x="3913632" y="4069080"/>
            <a:ext cx="3840480" cy="2679192"/>
          </a:xfrm>
          <a:prstGeom prst="rect">
            <a:avLst/>
          </a:prstGeom>
          <a:solidFill>
            <a:srgbClr val="FFFFFF"/>
          </a:solidFill>
          <a:ln w="12700">
            <a:solidFill>
              <a:srgbClr val="DDEAF8"/>
            </a:solidFill>
            <a:prstDash val="solid"/>
          </a:ln>
          <a:effectLst>
            <a:outerShdw blurRad="63500" dist="25400" dir="8100000" algn="bl" rotWithShape="0">
              <a:srgbClr val="AAAAAA">
                <a:alpha val="18000"/>
              </a:srgbClr>
            </a:outerShdw>
          </a:effectLst>
        </p:spPr>
        <p:txBody>
          <a:bodyPr/>
          <a:lstStyle/>
          <a:p>
            <a:endParaRPr lang="de-DE"/>
          </a:p>
        </p:txBody>
      </p:sp>
      <p:sp>
        <p:nvSpPr>
          <p:cNvPr id="30" name="Shape 27"/>
          <p:cNvSpPr/>
          <p:nvPr/>
        </p:nvSpPr>
        <p:spPr>
          <a:xfrm>
            <a:off x="3913632" y="4069080"/>
            <a:ext cx="3840480" cy="64008"/>
          </a:xfrm>
          <a:prstGeom prst="rect">
            <a:avLst/>
          </a:prstGeom>
          <a:solidFill>
            <a:srgbClr val="27AE60"/>
          </a:solidFill>
          <a:ln w="12700">
            <a:solidFill>
              <a:srgbClr val="27AE60"/>
            </a:solidFill>
            <a:prstDash val="solid"/>
          </a:ln>
        </p:spPr>
        <p:txBody>
          <a:bodyPr/>
          <a:lstStyle/>
          <a:p>
            <a:endParaRPr lang="de-DE"/>
          </a:p>
        </p:txBody>
      </p:sp>
      <p:sp>
        <p:nvSpPr>
          <p:cNvPr id="31" name="Text 28"/>
          <p:cNvSpPr/>
          <p:nvPr/>
        </p:nvSpPr>
        <p:spPr>
          <a:xfrm>
            <a:off x="4050792" y="4160520"/>
            <a:ext cx="3566160" cy="329184"/>
          </a:xfrm>
          <a:prstGeom prst="rect">
            <a:avLst/>
          </a:prstGeom>
          <a:noFill/>
          <a:ln/>
        </p:spPr>
        <p:txBody>
          <a:bodyPr wrap="square" lIns="0" tIns="0" rIns="0" bIns="0" rtlCol="0" anchor="ctr"/>
          <a:lstStyle/>
          <a:p>
            <a:pPr marL="0" indent="0" algn="l">
              <a:buNone/>
            </a:pPr>
            <a:r>
              <a:rPr lang="en-US" sz="1300" b="1" dirty="0">
                <a:solidFill>
                  <a:srgbClr val="27AE60"/>
                </a:solidFill>
                <a:latin typeface="Calibri" pitchFamily="34" charset="0"/>
                <a:ea typeface="Calibri" pitchFamily="34" charset="-122"/>
                <a:cs typeface="Calibri" pitchFamily="34" charset="-120"/>
              </a:rPr>
              <a:t>④ Key Findings</a:t>
            </a:r>
            <a:endParaRPr lang="en-US" sz="1300" dirty="0"/>
          </a:p>
        </p:txBody>
      </p:sp>
      <p:sp>
        <p:nvSpPr>
          <p:cNvPr id="32" name="Text 29"/>
          <p:cNvSpPr/>
          <p:nvPr/>
        </p:nvSpPr>
        <p:spPr>
          <a:xfrm>
            <a:off x="4050792" y="4526280"/>
            <a:ext cx="3566160" cy="2130552"/>
          </a:xfrm>
          <a:prstGeom prst="rect">
            <a:avLst/>
          </a:prstGeom>
          <a:noFill/>
          <a:ln/>
        </p:spPr>
        <p:txBody>
          <a:bodyPr wrap="square" lIns="0" tIns="0" rIns="0" bIns="0" rtlCol="0" anchor="t"/>
          <a:lstStyle/>
          <a:p>
            <a:pPr marL="342900" indent="-342900" algn="l">
              <a:spcAft>
                <a:spcPts val="300"/>
              </a:spcAft>
              <a:buSzPct val="100000"/>
              <a:buChar char="•"/>
            </a:pPr>
            <a:r>
              <a:rPr lang="en-US" sz="1100" dirty="0">
                <a:solidFill>
                  <a:srgbClr val="2C3E50"/>
                </a:solidFill>
                <a:latin typeface="Calibri" pitchFamily="34" charset="0"/>
                <a:ea typeface="Calibri" pitchFamily="34" charset="-122"/>
                <a:cs typeface="Calibri" pitchFamily="34" charset="-120"/>
              </a:rPr>
              <a:t>SC fit is honest (R²=0.75, no overfitting)</a:t>
            </a:r>
            <a:endParaRPr lang="en-US" sz="1100" dirty="0"/>
          </a:p>
          <a:p>
            <a:pPr marL="342900" indent="-342900" algn="l">
              <a:spcAft>
                <a:spcPts val="300"/>
              </a:spcAft>
              <a:buSzPct val="100000"/>
              <a:buChar char="•"/>
            </a:pPr>
            <a:r>
              <a:rPr lang="en-US" sz="1100" dirty="0">
                <a:solidFill>
                  <a:srgbClr val="2C3E50"/>
                </a:solidFill>
                <a:latin typeface="Calibri" pitchFamily="34" charset="0"/>
                <a:ea typeface="Calibri" pitchFamily="34" charset="-122"/>
                <a:cs typeface="Calibri" pitchFamily="34" charset="-120"/>
              </a:rPr>
              <a:t>OOS-R²=0.29 — Abadie SC extrapolates correctly</a:t>
            </a:r>
            <a:endParaRPr lang="en-US" sz="1100" dirty="0"/>
          </a:p>
          <a:p>
            <a:pPr marL="342900" indent="-342900" algn="l">
              <a:spcAft>
                <a:spcPts val="300"/>
              </a:spcAft>
              <a:buSzPct val="100000"/>
              <a:buChar char="•"/>
            </a:pPr>
            <a:r>
              <a:rPr lang="en-US" sz="1100" dirty="0">
                <a:solidFill>
                  <a:srgbClr val="2C3E50"/>
                </a:solidFill>
                <a:latin typeface="Calibri" pitchFamily="34" charset="0"/>
                <a:ea typeface="Calibri" pitchFamily="34" charset="-122"/>
                <a:cs typeface="Calibri" pitchFamily="34" charset="-120"/>
              </a:rPr>
              <a:t>τ=+29.5 PP cumulative — default worsened debt trajectory significantly</a:t>
            </a:r>
            <a:endParaRPr lang="en-US" sz="1100" dirty="0"/>
          </a:p>
          <a:p>
            <a:pPr marL="342900" indent="-342900" algn="l">
              <a:spcAft>
                <a:spcPts val="300"/>
              </a:spcAft>
              <a:buSzPct val="100000"/>
              <a:buChar char="•"/>
            </a:pPr>
            <a:r>
              <a:rPr lang="en-US" sz="1100" dirty="0">
                <a:solidFill>
                  <a:srgbClr val="2C3E50"/>
                </a:solidFill>
                <a:latin typeface="Calibri" pitchFamily="34" charset="0"/>
                <a:ea typeface="Calibri" pitchFamily="34" charset="-122"/>
                <a:cs typeface="Calibri" pitchFamily="34" charset="-120"/>
              </a:rPr>
              <a:t>Donor pool (Benin, Mali, Lesotho) shows data-driven matching works beyond obvious peers</a:t>
            </a:r>
            <a:endParaRPr lang="en-US" sz="1100" dirty="0"/>
          </a:p>
        </p:txBody>
      </p:sp>
      <p:sp>
        <p:nvSpPr>
          <p:cNvPr id="33" name="Shape 30"/>
          <p:cNvSpPr/>
          <p:nvPr/>
        </p:nvSpPr>
        <p:spPr>
          <a:xfrm>
            <a:off x="7891272" y="4069080"/>
            <a:ext cx="3995928" cy="2679192"/>
          </a:xfrm>
          <a:prstGeom prst="rect">
            <a:avLst/>
          </a:prstGeom>
          <a:solidFill>
            <a:srgbClr val="FFFFFF"/>
          </a:solidFill>
          <a:ln w="12700">
            <a:solidFill>
              <a:srgbClr val="DDEAF8"/>
            </a:solidFill>
            <a:prstDash val="solid"/>
          </a:ln>
          <a:effectLst>
            <a:outerShdw blurRad="63500" dist="25400" dir="8100000" algn="bl" rotWithShape="0">
              <a:srgbClr val="AAAAAA">
                <a:alpha val="18000"/>
              </a:srgbClr>
            </a:outerShdw>
          </a:effectLst>
        </p:spPr>
        <p:txBody>
          <a:bodyPr/>
          <a:lstStyle/>
          <a:p>
            <a:endParaRPr lang="de-DE"/>
          </a:p>
        </p:txBody>
      </p:sp>
      <p:sp>
        <p:nvSpPr>
          <p:cNvPr id="34" name="Shape 31"/>
          <p:cNvSpPr/>
          <p:nvPr/>
        </p:nvSpPr>
        <p:spPr>
          <a:xfrm>
            <a:off x="7891272" y="4069080"/>
            <a:ext cx="3995928" cy="64008"/>
          </a:xfrm>
          <a:prstGeom prst="rect">
            <a:avLst/>
          </a:prstGeom>
          <a:solidFill>
            <a:srgbClr val="D4A843"/>
          </a:solidFill>
          <a:ln w="12700">
            <a:solidFill>
              <a:srgbClr val="D4A843"/>
            </a:solidFill>
            <a:prstDash val="solid"/>
          </a:ln>
        </p:spPr>
        <p:txBody>
          <a:bodyPr/>
          <a:lstStyle/>
          <a:p>
            <a:endParaRPr lang="de-DE"/>
          </a:p>
        </p:txBody>
      </p:sp>
      <p:sp>
        <p:nvSpPr>
          <p:cNvPr id="35" name="Text 32"/>
          <p:cNvSpPr/>
          <p:nvPr/>
        </p:nvSpPr>
        <p:spPr>
          <a:xfrm>
            <a:off x="8028432" y="4160520"/>
            <a:ext cx="3721608" cy="329184"/>
          </a:xfrm>
          <a:prstGeom prst="rect">
            <a:avLst/>
          </a:prstGeom>
          <a:noFill/>
          <a:ln/>
        </p:spPr>
        <p:txBody>
          <a:bodyPr wrap="square" lIns="0" tIns="0" rIns="0" bIns="0" rtlCol="0" anchor="ctr"/>
          <a:lstStyle/>
          <a:p>
            <a:pPr marL="0" indent="0" algn="l">
              <a:buNone/>
            </a:pPr>
            <a:r>
              <a:rPr lang="en-US" sz="1300" b="1" dirty="0">
                <a:solidFill>
                  <a:srgbClr val="8B6914"/>
                </a:solidFill>
                <a:latin typeface="Calibri" pitchFamily="34" charset="0"/>
                <a:ea typeface="Calibri" pitchFamily="34" charset="-122"/>
                <a:cs typeface="Calibri" pitchFamily="34" charset="-120"/>
              </a:rPr>
              <a:t>⑤ Outlook</a:t>
            </a:r>
            <a:endParaRPr lang="en-US" sz="1300" dirty="0"/>
          </a:p>
        </p:txBody>
      </p:sp>
      <p:sp>
        <p:nvSpPr>
          <p:cNvPr id="36" name="Text 33"/>
          <p:cNvSpPr/>
          <p:nvPr/>
        </p:nvSpPr>
        <p:spPr>
          <a:xfrm>
            <a:off x="8028432" y="4526280"/>
            <a:ext cx="3721608" cy="2130552"/>
          </a:xfrm>
          <a:prstGeom prst="rect">
            <a:avLst/>
          </a:prstGeom>
          <a:noFill/>
          <a:ln/>
        </p:spPr>
        <p:txBody>
          <a:bodyPr wrap="square" lIns="0" tIns="0" rIns="0" bIns="0" rtlCol="0" anchor="t"/>
          <a:lstStyle/>
          <a:p>
            <a:pPr marL="342900" indent="-342900" algn="l">
              <a:spcAft>
                <a:spcPts val="300"/>
              </a:spcAft>
              <a:buSzPct val="100000"/>
              <a:buChar char="•"/>
            </a:pPr>
            <a:r>
              <a:rPr lang="en-US" sz="1100" dirty="0">
                <a:solidFill>
                  <a:srgbClr val="2C3E50"/>
                </a:solidFill>
                <a:latin typeface="Calibri" pitchFamily="34" charset="0"/>
                <a:ea typeface="Calibri" pitchFamily="34" charset="-122"/>
                <a:cs typeface="Calibri" pitchFamily="34" charset="-120"/>
              </a:rPr>
              <a:t>Run full pipeline for all 92 default countries</a:t>
            </a:r>
          </a:p>
          <a:p>
            <a:pPr marL="342900" indent="-342900">
              <a:spcAft>
                <a:spcPts val="300"/>
              </a:spcAft>
              <a:buSzPct val="100000"/>
              <a:buChar char="•"/>
            </a:pPr>
            <a:r>
              <a:rPr lang="en-US" sz="1100" dirty="0"/>
              <a:t>Estimate effect of GS10 on </a:t>
            </a:r>
            <a:r>
              <a:rPr lang="en-US" sz="1100" dirty="0" err="1">
                <a:solidFill>
                  <a:srgbClr val="2C3E50"/>
                </a:solidFill>
                <a:latin typeface="Calibri" pitchFamily="34" charset="0"/>
                <a:ea typeface="Calibri" pitchFamily="34" charset="-122"/>
                <a:cs typeface="Calibri" pitchFamily="34" charset="-120"/>
              </a:rPr>
              <a:t>τ</a:t>
            </a:r>
            <a:endParaRPr lang="en-US" sz="1100" dirty="0"/>
          </a:p>
          <a:p>
            <a:pPr marL="342900" indent="-342900" algn="l">
              <a:spcAft>
                <a:spcPts val="300"/>
              </a:spcAft>
              <a:buSzPct val="100000"/>
              <a:buChar char="•"/>
            </a:pPr>
            <a:r>
              <a:rPr lang="en-US" sz="1100" dirty="0">
                <a:solidFill>
                  <a:srgbClr val="2C3E50"/>
                </a:solidFill>
                <a:latin typeface="Calibri" pitchFamily="34" charset="0"/>
                <a:ea typeface="Calibri" pitchFamily="34" charset="-122"/>
                <a:cs typeface="Calibri" pitchFamily="34" charset="-120"/>
              </a:rPr>
              <a:t>Train XGBoost with τ, tau_cumul as causal features to predict sovereign default</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420</Words>
  <Application>Microsoft Macintosh PowerPoint</Application>
  <PresentationFormat>Breitbild</PresentationFormat>
  <Paragraphs>52</Paragraphs>
  <Slides>2</Slides>
  <Notes>2</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2</vt:i4>
      </vt:variant>
    </vt:vector>
  </HeadingPairs>
  <TitlesOfParts>
    <vt:vector size="6" baseType="lpstr">
      <vt:lpstr>Arial</vt:lpstr>
      <vt:lpstr>Calibri</vt:lpstr>
      <vt:lpstr>Cambria</vt:lpstr>
      <vt:lpstr>Office Theme</vt:lpstr>
      <vt:lpstr>PowerPoint-Präsentation</vt:lpstr>
      <vt:lpstr>PowerPoint-Präsentation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Sovereign Default Prediction</dc:title>
  <dc:subject>PptxGenJS Presentation</dc:subject>
  <dc:creator>Sovereign Default Analysis</dc:creator>
  <cp:lastModifiedBy>Anne Mittelstät</cp:lastModifiedBy>
  <cp:revision>7</cp:revision>
  <dcterms:created xsi:type="dcterms:W3CDTF">2026-05-31T18:32:05Z</dcterms:created>
  <dcterms:modified xsi:type="dcterms:W3CDTF">2026-06-01T05:32:13Z</dcterms:modified>
</cp:coreProperties>
</file>