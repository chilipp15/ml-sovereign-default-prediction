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9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38" d="100"/>
          <a:sy n="138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2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C6F26-22D8-FA3D-6A85-5C164CFC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6FD04-5A05-ECDF-8132-6B2DDE2CE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1E466-CFE9-3CFB-E9D9-81621D0BB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C48DD-D447-3513-72D8-79E7838D1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0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Sovereign Defaults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Synthetic Controls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 Wetter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June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github.com/chilipp15/ml-sovereign-default-prediction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Research Question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sovereign defaults 12 months in advance using machine learning enriched with causal signals from Synthetic Controls.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5074920" y="128016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0749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81051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Synthetic Control residuals — deviations from a counterfactual twin — serve as an early warning indicator for sovereign defaults?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that deviates significantly from its synthetic twin is more likely to default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46888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1975–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observations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659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61772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1772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Events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Asonuma &amp; Trebesch (2016)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6596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766560" y="12618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2,118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Months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2121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DEFAULT_ONSET_12M =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69748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2004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Debt/GDP (lags 12 &amp; 24 months)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volume (log-transformed)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10-year Treasury rate (GS10)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inflation (lag 3 months)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rate (lag 3 months)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697480"/>
            <a:ext cx="416052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846320" y="27889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Construction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20040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Asonuma &amp; Trebesch (2016)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= announcement / default date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DEFAULT_ONSET_12M = 1 for 12 months before T₀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running defaults removed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scale_pos_weight ≈ 40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CF1B-CBF5-0C86-3A77-FE16CD24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0E559F-351D-1272-F338-F3D7D61795D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61A445-5C9E-30D5-0209-8CF71F0D7807}"/>
              </a:ext>
            </a:extLst>
          </p:cNvPr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Synthetic Controls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4B9F72-EBB3-735B-540D-6E84CA68C341}"/>
              </a:ext>
            </a:extLst>
          </p:cNvPr>
          <p:cNvSpPr/>
          <p:nvPr/>
        </p:nvSpPr>
        <p:spPr>
          <a:xfrm>
            <a:off x="320040" y="105156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98E5D9E-9284-AB7F-27AA-F59866F87520}"/>
              </a:ext>
            </a:extLst>
          </p:cNvPr>
          <p:cNvSpPr/>
          <p:nvPr/>
        </p:nvSpPr>
        <p:spPr>
          <a:xfrm>
            <a:off x="502920" y="135331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CC13FF-CD2F-939B-54A6-F67F2B389D4F}"/>
              </a:ext>
            </a:extLst>
          </p:cNvPr>
          <p:cNvSpPr/>
          <p:nvPr/>
        </p:nvSpPr>
        <p:spPr>
          <a:xfrm>
            <a:off x="5029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A0B558-0046-0D76-1816-C02362C6D516}"/>
              </a:ext>
            </a:extLst>
          </p:cNvPr>
          <p:cNvSpPr/>
          <p:nvPr/>
        </p:nvSpPr>
        <p:spPr>
          <a:xfrm>
            <a:off x="1078992" y="1161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Pool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30ED92-AA4F-ED00-974B-CE0AE3690506}"/>
              </a:ext>
            </a:extLst>
          </p:cNvPr>
          <p:cNvSpPr/>
          <p:nvPr/>
        </p:nvSpPr>
        <p:spPr>
          <a:xfrm>
            <a:off x="1078992" y="1508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 clusters structurally similar countries as potential donors (max 12 per country).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8723DC7-9B76-1533-9368-213D42A7E88E}"/>
              </a:ext>
            </a:extLst>
          </p:cNvPr>
          <p:cNvSpPr/>
          <p:nvPr/>
        </p:nvSpPr>
        <p:spPr>
          <a:xfrm>
            <a:off x="320040" y="2313432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D704A71-D2EF-1853-3B36-E1F99F0A848C}"/>
              </a:ext>
            </a:extLst>
          </p:cNvPr>
          <p:cNvSpPr/>
          <p:nvPr/>
        </p:nvSpPr>
        <p:spPr>
          <a:xfrm>
            <a:off x="502920" y="2615184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5559C90-3D84-0169-6EED-20F03782F625}"/>
              </a:ext>
            </a:extLst>
          </p:cNvPr>
          <p:cNvSpPr/>
          <p:nvPr/>
        </p:nvSpPr>
        <p:spPr>
          <a:xfrm>
            <a:off x="5029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00FAFDA-A537-C93D-A35A-035922BF2DEF}"/>
              </a:ext>
            </a:extLst>
          </p:cNvPr>
          <p:cNvSpPr/>
          <p:nvPr/>
        </p:nvSpPr>
        <p:spPr>
          <a:xfrm>
            <a:off x="1078992" y="2423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 Fit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6E4F2C9-54D6-2419-F028-546459631030}"/>
              </a:ext>
            </a:extLst>
          </p:cNvPr>
          <p:cNvSpPr/>
          <p:nvPr/>
        </p:nvSpPr>
        <p:spPr>
          <a:xfrm>
            <a:off x="1078992" y="2770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36-month OLS fits a weighted combination of donors to match the treated country's macro path.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D56200B-0639-D667-920A-A5BB723585DA}"/>
              </a:ext>
            </a:extLst>
          </p:cNvPr>
          <p:cNvSpPr/>
          <p:nvPr/>
        </p:nvSpPr>
        <p:spPr>
          <a:xfrm>
            <a:off x="320040" y="3575304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13D6AD0-4953-8280-4908-1B436A5A01B6}"/>
              </a:ext>
            </a:extLst>
          </p:cNvPr>
          <p:cNvSpPr/>
          <p:nvPr/>
        </p:nvSpPr>
        <p:spPr>
          <a:xfrm>
            <a:off x="502920" y="3877056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2EE7A1-4A3F-C7BB-D51C-AD3F510F0049}"/>
              </a:ext>
            </a:extLst>
          </p:cNvPr>
          <p:cNvSpPr/>
          <p:nvPr/>
        </p:nvSpPr>
        <p:spPr>
          <a:xfrm>
            <a:off x="50292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205267E-D957-7BD4-ED92-91F871AF3FAC}"/>
              </a:ext>
            </a:extLst>
          </p:cNvPr>
          <p:cNvSpPr/>
          <p:nvPr/>
        </p:nvSpPr>
        <p:spPr>
          <a:xfrm>
            <a:off x="1078992" y="3685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τ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53D5D40-5392-BC15-8A19-A6268C12A159}"/>
              </a:ext>
            </a:extLst>
          </p:cNvPr>
          <p:cNvSpPr/>
          <p:nvPr/>
        </p:nvSpPr>
        <p:spPr>
          <a:xfrm>
            <a:off x="1078992" y="40325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SC-Distance = Distance between default country and synthetic twin across 4 variables.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5F200B3-480A-708B-6DE7-1245C9ADF8B2}"/>
              </a:ext>
            </a:extLst>
          </p:cNvPr>
          <p:cNvSpPr/>
          <p:nvPr/>
        </p:nvSpPr>
        <p:spPr>
          <a:xfrm>
            <a:off x="320040" y="466344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2838965-06AA-8F94-BF75-6AD612228FF0}"/>
              </a:ext>
            </a:extLst>
          </p:cNvPr>
          <p:cNvSpPr/>
          <p:nvPr/>
        </p:nvSpPr>
        <p:spPr>
          <a:xfrm>
            <a:off x="411480" y="4690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RESIDUAL_VARS: Debt/GDP change · Exports · ER rate · CPI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886A6F2-EF47-55AD-C1E6-0E1E51F126D2}"/>
              </a:ext>
            </a:extLst>
          </p:cNvPr>
          <p:cNvSpPr/>
          <p:nvPr/>
        </p:nvSpPr>
        <p:spPr>
          <a:xfrm>
            <a:off x="461772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07E0B2D-8E96-A88D-42F2-8E562E2B8DFB}"/>
              </a:ext>
            </a:extLst>
          </p:cNvPr>
          <p:cNvSpPr/>
          <p:nvPr/>
        </p:nvSpPr>
        <p:spPr>
          <a:xfrm>
            <a:off x="475488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vs. Synthetic Twin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5232468-F87F-4320-1B99-A71322A28786}"/>
              </a:ext>
            </a:extLst>
          </p:cNvPr>
          <p:cNvSpPr/>
          <p:nvPr/>
        </p:nvSpPr>
        <p:spPr>
          <a:xfrm>
            <a:off x="5120640" y="1508760"/>
            <a:ext cx="0" cy="246888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CABC7F-375D-6CDE-D406-FA5B6AAB8AF8}"/>
              </a:ext>
            </a:extLst>
          </p:cNvPr>
          <p:cNvSpPr/>
          <p:nvPr/>
        </p:nvSpPr>
        <p:spPr>
          <a:xfrm>
            <a:off x="5120640" y="3977640"/>
            <a:ext cx="33832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7E18F76-DBD8-3557-05C8-970DB1977D49}"/>
              </a:ext>
            </a:extLst>
          </p:cNvPr>
          <p:cNvSpPr/>
          <p:nvPr/>
        </p:nvSpPr>
        <p:spPr>
          <a:xfrm rot="16200000">
            <a:off x="4663440" y="2606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Variable</a:t>
            </a: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A221DDD-EDE4-4785-71E0-4009C727D4D7}"/>
              </a:ext>
            </a:extLst>
          </p:cNvPr>
          <p:cNvSpPr/>
          <p:nvPr/>
        </p:nvSpPr>
        <p:spPr>
          <a:xfrm>
            <a:off x="6355080" y="40873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75FFD93-841A-7FDE-F089-76374FEC41B1}"/>
              </a:ext>
            </a:extLst>
          </p:cNvPr>
          <p:cNvSpPr/>
          <p:nvPr/>
        </p:nvSpPr>
        <p:spPr>
          <a:xfrm>
            <a:off x="7556602" y="1508760"/>
            <a:ext cx="0" cy="2468880"/>
          </a:xfrm>
          <a:prstGeom prst="line">
            <a:avLst/>
          </a:prstGeom>
          <a:noFill/>
          <a:ln w="1524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A8A9995-FDCF-040F-6E35-D2814DD571AE}"/>
              </a:ext>
            </a:extLst>
          </p:cNvPr>
          <p:cNvSpPr/>
          <p:nvPr/>
        </p:nvSpPr>
        <p:spPr>
          <a:xfrm>
            <a:off x="7510882" y="12527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8D31FA8-9603-6D41-1C02-389F739C17FC}"/>
              </a:ext>
            </a:extLst>
          </p:cNvPr>
          <p:cNvSpPr/>
          <p:nvPr/>
        </p:nvSpPr>
        <p:spPr>
          <a:xfrm>
            <a:off x="7556602" y="2002536"/>
            <a:ext cx="270662" cy="49378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6252BBD5-7315-58AC-790B-B912D0EFC273}"/>
              </a:ext>
            </a:extLst>
          </p:cNvPr>
          <p:cNvSpPr/>
          <p:nvPr/>
        </p:nvSpPr>
        <p:spPr>
          <a:xfrm>
            <a:off x="7827264" y="2051914"/>
            <a:ext cx="338328" cy="148133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037DD7D-425C-C632-7145-BADFB9A80F0F}"/>
              </a:ext>
            </a:extLst>
          </p:cNvPr>
          <p:cNvSpPr/>
          <p:nvPr/>
        </p:nvSpPr>
        <p:spPr>
          <a:xfrm>
            <a:off x="8165592" y="2200046"/>
            <a:ext cx="338328" cy="98755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26088E4B-461D-2B25-57C8-3EE50949B996}"/>
              </a:ext>
            </a:extLst>
          </p:cNvPr>
          <p:cNvSpPr/>
          <p:nvPr/>
        </p:nvSpPr>
        <p:spPr>
          <a:xfrm>
            <a:off x="5120640" y="3187598"/>
            <a:ext cx="507492" cy="24689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EEF0792-548D-BB0C-8720-E5E672562E41}"/>
              </a:ext>
            </a:extLst>
          </p:cNvPr>
          <p:cNvSpPr/>
          <p:nvPr/>
        </p:nvSpPr>
        <p:spPr>
          <a:xfrm>
            <a:off x="5628132" y="3212287"/>
            <a:ext cx="507492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A91DF67-333F-8931-C9E5-50642DD2BDD7}"/>
              </a:ext>
            </a:extLst>
          </p:cNvPr>
          <p:cNvSpPr/>
          <p:nvPr/>
        </p:nvSpPr>
        <p:spPr>
          <a:xfrm>
            <a:off x="6135624" y="3162910"/>
            <a:ext cx="507492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92AB1CE-DBDA-2735-3F31-F485C82A9E20}"/>
              </a:ext>
            </a:extLst>
          </p:cNvPr>
          <p:cNvSpPr/>
          <p:nvPr/>
        </p:nvSpPr>
        <p:spPr>
          <a:xfrm>
            <a:off x="6643116" y="3138221"/>
            <a:ext cx="33832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2AA1F29-4A1F-350C-B99E-E1EB8ED6DC85}"/>
              </a:ext>
            </a:extLst>
          </p:cNvPr>
          <p:cNvSpPr/>
          <p:nvPr/>
        </p:nvSpPr>
        <p:spPr>
          <a:xfrm>
            <a:off x="6981444" y="3113532"/>
            <a:ext cx="33832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68EC831-522E-0CA3-948A-811039C308E9}"/>
              </a:ext>
            </a:extLst>
          </p:cNvPr>
          <p:cNvSpPr/>
          <p:nvPr/>
        </p:nvSpPr>
        <p:spPr>
          <a:xfrm>
            <a:off x="7319772" y="3088843"/>
            <a:ext cx="23683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6015998-4923-E356-9763-1A1A9BAB1F25}"/>
              </a:ext>
            </a:extLst>
          </p:cNvPr>
          <p:cNvSpPr/>
          <p:nvPr/>
        </p:nvSpPr>
        <p:spPr>
          <a:xfrm>
            <a:off x="7556602" y="3064154"/>
            <a:ext cx="270662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DCF1786-BBDC-37F8-50D7-9593ABCA7D88}"/>
              </a:ext>
            </a:extLst>
          </p:cNvPr>
          <p:cNvSpPr/>
          <p:nvPr/>
        </p:nvSpPr>
        <p:spPr>
          <a:xfrm>
            <a:off x="7827264" y="3039466"/>
            <a:ext cx="338328" cy="24689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83582A8-AFFD-8B89-087B-BFE07B658237}"/>
              </a:ext>
            </a:extLst>
          </p:cNvPr>
          <p:cNvSpPr/>
          <p:nvPr/>
        </p:nvSpPr>
        <p:spPr>
          <a:xfrm>
            <a:off x="8165592" y="3064154"/>
            <a:ext cx="338328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027152EE-3879-DAB8-FED6-F0092C941738}"/>
              </a:ext>
            </a:extLst>
          </p:cNvPr>
          <p:cNvSpPr/>
          <p:nvPr/>
        </p:nvSpPr>
        <p:spPr>
          <a:xfrm>
            <a:off x="6967068" y="1970532"/>
            <a:ext cx="575158" cy="1160374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AABCF60-7D2A-18FF-74BB-1A758ED988F9}"/>
              </a:ext>
            </a:extLst>
          </p:cNvPr>
          <p:cNvSpPr/>
          <p:nvPr/>
        </p:nvSpPr>
        <p:spPr>
          <a:xfrm>
            <a:off x="7720279" y="17958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= SC-Distance</a:t>
            </a:r>
            <a:endParaRPr lang="en-US" sz="9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87DAD99-CAE7-B0B5-90BD-AF2EC3E0C477}"/>
              </a:ext>
            </a:extLst>
          </p:cNvPr>
          <p:cNvSpPr/>
          <p:nvPr/>
        </p:nvSpPr>
        <p:spPr>
          <a:xfrm>
            <a:off x="5715000" y="3977640"/>
            <a:ext cx="320040" cy="0"/>
          </a:xfrm>
          <a:prstGeom prst="line">
            <a:avLst/>
          </a:prstGeom>
          <a:noFill/>
          <a:ln w="279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A4766B0-CC34-8C8E-C227-FCCFF626718F}"/>
              </a:ext>
            </a:extLst>
          </p:cNvPr>
          <p:cNvSpPr/>
          <p:nvPr/>
        </p:nvSpPr>
        <p:spPr>
          <a:xfrm>
            <a:off x="6080760" y="39044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country</a:t>
            </a:r>
            <a:endParaRPr lang="en-US" sz="9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7B2CD2B-4650-5493-C150-91B6303141FA}"/>
              </a:ext>
            </a:extLst>
          </p:cNvPr>
          <p:cNvSpPr/>
          <p:nvPr/>
        </p:nvSpPr>
        <p:spPr>
          <a:xfrm>
            <a:off x="6995160" y="3977640"/>
            <a:ext cx="320040" cy="0"/>
          </a:xfrm>
          <a:prstGeom prst="line">
            <a:avLst/>
          </a:prstGeom>
          <a:noFill/>
          <a:ln w="27940">
            <a:solidFill>
              <a:srgbClr val="0D9488"/>
            </a:solidFill>
            <a:prstDash val="sysDash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D2CB4B2F-8D8C-0188-13F3-732F8BBEF7F6}"/>
              </a:ext>
            </a:extLst>
          </p:cNvPr>
          <p:cNvSpPr/>
          <p:nvPr/>
        </p:nvSpPr>
        <p:spPr>
          <a:xfrm>
            <a:off x="7360920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Twin</a:t>
            </a:r>
            <a:endParaRPr lang="en-US" sz="900" dirty="0"/>
          </a:p>
        </p:txBody>
      </p:sp>
      <p:sp>
        <p:nvSpPr>
          <p:cNvPr id="53" name="Freihandform 52">
            <a:extLst>
              <a:ext uri="{FF2B5EF4-FFF2-40B4-BE49-F238E27FC236}">
                <a16:creationId xmlns:a16="http://schemas.microsoft.com/office/drawing/2014/main" id="{A89A0FCB-5186-422F-981E-86F7BB03532D}"/>
              </a:ext>
            </a:extLst>
          </p:cNvPr>
          <p:cNvSpPr/>
          <p:nvPr/>
        </p:nvSpPr>
        <p:spPr>
          <a:xfrm>
            <a:off x="5120639" y="1959429"/>
            <a:ext cx="2438001" cy="1264151"/>
          </a:xfrm>
          <a:custGeom>
            <a:avLst/>
            <a:gdLst>
              <a:gd name="csX0" fmla="*/ 0 w 2438001"/>
              <a:gd name="csY0" fmla="*/ 1254034 h 1264151"/>
              <a:gd name="csX1" fmla="*/ 478972 w 2438001"/>
              <a:gd name="csY1" fmla="*/ 1262742 h 1264151"/>
              <a:gd name="csX2" fmla="*/ 992777 w 2438001"/>
              <a:gd name="csY2" fmla="*/ 1227908 h 1264151"/>
              <a:gd name="csX3" fmla="*/ 1584960 w 2438001"/>
              <a:gd name="csY3" fmla="*/ 984068 h 1264151"/>
              <a:gd name="csX4" fmla="*/ 1863634 w 2438001"/>
              <a:gd name="csY4" fmla="*/ 783771 h 1264151"/>
              <a:gd name="csX5" fmla="*/ 2220686 w 2438001"/>
              <a:gd name="csY5" fmla="*/ 435428 h 1264151"/>
              <a:gd name="csX6" fmla="*/ 2412274 w 2438001"/>
              <a:gd name="csY6" fmla="*/ 0 h 12641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438001" h="1264151">
                <a:moveTo>
                  <a:pt x="0" y="1254034"/>
                </a:moveTo>
                <a:cubicBezTo>
                  <a:pt x="156754" y="1260565"/>
                  <a:pt x="313509" y="1267096"/>
                  <a:pt x="478972" y="1262742"/>
                </a:cubicBezTo>
                <a:cubicBezTo>
                  <a:pt x="644435" y="1258388"/>
                  <a:pt x="808446" y="1274354"/>
                  <a:pt x="992777" y="1227908"/>
                </a:cubicBezTo>
                <a:cubicBezTo>
                  <a:pt x="1177108" y="1181462"/>
                  <a:pt x="1439817" y="1058091"/>
                  <a:pt x="1584960" y="984068"/>
                </a:cubicBezTo>
                <a:cubicBezTo>
                  <a:pt x="1730103" y="910045"/>
                  <a:pt x="1757680" y="875211"/>
                  <a:pt x="1863634" y="783771"/>
                </a:cubicBezTo>
                <a:cubicBezTo>
                  <a:pt x="1969588" y="692331"/>
                  <a:pt x="2129246" y="566056"/>
                  <a:pt x="2220686" y="435428"/>
                </a:cubicBezTo>
                <a:cubicBezTo>
                  <a:pt x="2312126" y="304799"/>
                  <a:pt x="2508068" y="18868"/>
                  <a:pt x="2412274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1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Two-Tier Logit Baseline (Tier 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(one per variable family)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17922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   (test set)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121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450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 →  U(0.5) = 0.159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logit_pred feeds into XGBoost as Tier-1 compressed macro signal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XGBoost + SC-Residuals (Tier 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900068"/>
            <a:ext cx="1463040" cy="1483212"/>
          </a:xfrm>
          <a:prstGeom prst="roundRect">
            <a:avLst>
              <a:gd name="adj" fmla="val 375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754880" y="16257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 only)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1846759"/>
            <a:ext cx="1463040" cy="1536521"/>
          </a:xfrm>
          <a:prstGeom prst="roundRect">
            <a:avLst>
              <a:gd name="adj" fmla="val 3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675120" y="1572439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SC-Residuals)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165802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1605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00600" y="34472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44728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[+0.003,  +0.049]  ✓ significant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78561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LR-Test p-value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3785616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  ✓ highly significant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12394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 U(0.5)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4123944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  at threshold 0.15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4622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AUC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66560" y="4462272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 (2011–15)  →  0.796 (2016–20)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3832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0292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3840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SC-Residuals alone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near-random (AUC = 0.554), but as features inside XGBoost they deliver a 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+2.7 PP lift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AUC-ROC — confirming SC deviation as a complementary early warning signal.</a:t>
            </a:r>
            <a:endParaRPr lang="en-US" sz="1100" dirty="0"/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11A35022-6854-0FB3-A6FD-622BE168285C}"/>
              </a:ext>
            </a:extLst>
          </p:cNvPr>
          <p:cNvCxnSpPr>
            <a:cxnSpLocks/>
          </p:cNvCxnSpPr>
          <p:nvPr/>
        </p:nvCxnSpPr>
        <p:spPr>
          <a:xfrm>
            <a:off x="6263640" y="1936683"/>
            <a:ext cx="360000" cy="0"/>
          </a:xfrm>
          <a:prstGeom prst="straightConnector1">
            <a:avLst/>
          </a:prstGeom>
          <a:ln w="19050">
            <a:solidFill>
              <a:srgbClr val="05966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Inference: Marginal Effect of SC-Deviation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 does deviating from the synthetic twin increase the probability of default?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2075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Average Marginal Effects (AME) · Logit with Macro Controls · N = 18,201 (test set)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40233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4963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+0.074 PP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decile increase in SC-Distance rank  (p = 0.003 ✓)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3364992"/>
            <a:ext cx="361188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P(Default): </a:t>
            </a: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721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vs. Bottom Decile: 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+0.74 PP  (+142% relative)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 SD in SC-Distance zscore: +0.085 PP, p = 0.051)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9875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Default Probability by SC-Distance Decile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337560"/>
            <a:ext cx="324612" cy="640080"/>
          </a:xfrm>
          <a:prstGeom prst="roundRect">
            <a:avLst>
              <a:gd name="adj" fmla="val 1126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225796" y="3230880"/>
            <a:ext cx="324612" cy="746760"/>
          </a:xfrm>
          <a:prstGeom prst="roundRect">
            <a:avLst>
              <a:gd name="adj" fmla="val 1126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605272" y="3166872"/>
            <a:ext cx="324612" cy="810768"/>
          </a:xfrm>
          <a:prstGeom prst="roundRect">
            <a:avLst>
              <a:gd name="adj" fmla="val 1126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984748" y="3081528"/>
            <a:ext cx="324612" cy="896112"/>
          </a:xfrm>
          <a:prstGeom prst="roundRect">
            <a:avLst>
              <a:gd name="adj" fmla="val 1126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6364224" y="2974848"/>
            <a:ext cx="324612" cy="1002792"/>
          </a:xfrm>
          <a:prstGeom prst="roundRect">
            <a:avLst>
              <a:gd name="adj" fmla="val 1126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743700" y="2846832"/>
            <a:ext cx="324612" cy="1130808"/>
          </a:xfrm>
          <a:prstGeom prst="roundRect">
            <a:avLst>
              <a:gd name="adj" fmla="val 1126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7123176" y="2697480"/>
            <a:ext cx="324612" cy="1280160"/>
          </a:xfrm>
          <a:prstGeom prst="roundRect">
            <a:avLst>
              <a:gd name="adj" fmla="val 1126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502652" y="2484120"/>
            <a:ext cx="324612" cy="1493520"/>
          </a:xfrm>
          <a:prstGeom prst="roundRect">
            <a:avLst>
              <a:gd name="adj" fmla="val 1126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7882128" y="2185416"/>
            <a:ext cx="324612" cy="1792224"/>
          </a:xfrm>
          <a:prstGeom prst="roundRect">
            <a:avLst>
              <a:gd name="adj" fmla="val 1126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8261604" y="1758696"/>
            <a:ext cx="324612" cy="2218944"/>
          </a:xfrm>
          <a:prstGeom prst="roundRect">
            <a:avLst>
              <a:gd name="adj" fmla="val 1126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846320" y="3977640"/>
            <a:ext cx="39319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828032" y="40507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40507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41688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SC-Distance Decile (1 = lowest, 10 = highest)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 rot="16200000">
            <a:off x="4251960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P(Default)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18888" y="3337560"/>
            <a:ext cx="3959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297680" y="32461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18888" y="2697480"/>
            <a:ext cx="3959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297680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18888" y="2057400"/>
            <a:ext cx="3959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297680" y="1965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18888" y="1417320"/>
            <a:ext cx="39593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4297680" y="13258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497062" y="1712976"/>
            <a:ext cx="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8016450" y="14679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~1.04%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4407408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02920" y="4462272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"Countries in the highest SC-deviation decile face a 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+142% higher relative default probability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vs. the lowest — controlling for debt, interest rates &amp; exports."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Microsoft Macintosh PowerPoint</Application>
  <PresentationFormat>Bildschirmpräsentation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Sovereign Defaults</dc:title>
  <dc:subject>PptxGenJS Presentation</dc:subject>
  <dc:creator>Philipp Wetter</dc:creator>
  <cp:lastModifiedBy>Anne Mittelstät</cp:lastModifiedBy>
  <cp:revision>11</cp:revision>
  <dcterms:created xsi:type="dcterms:W3CDTF">2026-06-28T22:18:01Z</dcterms:created>
  <dcterms:modified xsi:type="dcterms:W3CDTF">2026-06-29T16:15:41Z</dcterms:modified>
</cp:coreProperties>
</file>